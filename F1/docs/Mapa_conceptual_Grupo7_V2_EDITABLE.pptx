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8575000" cy="405765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666" y="-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-1">
            <a:extLst>
              <a:ext uri="{FF2B5EF4-FFF2-40B4-BE49-F238E27FC236}">
                <a16:creationId xmlns:a16="http://schemas.microsoft.com/office/drawing/2014/main" id="{3C99E87E-6D43-4FF4-B4EE-526AAB5D92DD}"/>
              </a:ext>
            </a:extLst>
          </p:cNvPr>
          <p:cNvSpPr>
            <a:spLocks noGrp="1"/>
          </p:cNvSpPr>
          <p:nvPr/>
        </p:nvSpPr>
        <p:spPr>
          <a:xfrm>
            <a:off x="952500" y="476250"/>
            <a:ext cx="266700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525" b="1">
                <a:solidFill>
                  <a:srgbClr val="153851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153851"/>
                </a:solidFill>
                <a:latin typeface="DejaVu Sans"/>
                <a:ea typeface="DejaVu Sans"/>
                <a:cs typeface="DejaVu Sans"/>
              </a:rPr>
              <a:t>MAPA CONCEPTUAL DEL FLUJO DE TRABAJO REPRODUCIBLE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97BFBC2D-C7F5-433D-8835-A3794A8E3189}"/>
              </a:ext>
            </a:extLst>
          </p:cNvPr>
          <p:cNvSpPr>
            <a:spLocks noGrp="1"/>
          </p:cNvSpPr>
          <p:nvPr/>
        </p:nvSpPr>
        <p:spPr>
          <a:xfrm>
            <a:off x="952500" y="1257300"/>
            <a:ext cx="26670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3B566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3B5669"/>
                </a:solidFill>
                <a:latin typeface="DejaVu Sans"/>
                <a:ea typeface="DejaVu Sans"/>
                <a:cs typeface="DejaVu Sans"/>
              </a:rPr>
              <a:t>MCDI500 · Grupo 7 · Benjamín Araya, Alan Cañete, Patricio Cortez y Jorge Guaico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4979FC96-6C94-4229-A44F-B7B0E34825AA}"/>
              </a:ext>
            </a:extLst>
          </p:cNvPr>
          <p:cNvSpPr>
            <a:spLocks noGrp="1"/>
          </p:cNvSpPr>
          <p:nvPr/>
        </p:nvSpPr>
        <p:spPr>
          <a:xfrm>
            <a:off x="952500" y="1752600"/>
            <a:ext cx="266700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53697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977"/>
                </a:solidFill>
                <a:latin typeface="DejaVu Sans"/>
                <a:ea typeface="DejaVu Sans"/>
                <a:cs typeface="DejaVu Sans"/>
              </a:rPr>
              <a:t>Fase 1: planificación del proyecto. Hallazgos verificados del CSV y decisiones de implementación propuestas.</a:t>
            </a:r>
          </a:p>
        </p:txBody>
      </p:sp>
      <p:sp>
        <p:nvSpPr>
          <p:cNvPr id="4" name="node-proyecto">
            <a:extLst>
              <a:ext uri="{FF2B5EF4-FFF2-40B4-BE49-F238E27FC236}">
                <a16:creationId xmlns:a16="http://schemas.microsoft.com/office/drawing/2014/main" id="{6A404472-DE6E-4099-901E-1828753F2BF3}"/>
              </a:ext>
            </a:extLst>
          </p:cNvPr>
          <p:cNvSpPr>
            <a:spLocks noGrp="1"/>
          </p:cNvSpPr>
          <p:nvPr/>
        </p:nvSpPr>
        <p:spPr>
          <a:xfrm>
            <a:off x="10477500" y="2381250"/>
            <a:ext cx="7620000" cy="1619250"/>
          </a:xfrm>
          <a:prstGeom prst="roundRect">
            <a:avLst>
              <a:gd name="adj" fmla="val 7059"/>
            </a:avLst>
          </a:prstGeom>
          <a:solidFill>
            <a:srgbClr val="153851"/>
          </a:solidFill>
          <a:ln w="22860">
            <a:solidFill>
              <a:srgbClr val="15385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proyecto-title-0">
            <a:extLst>
              <a:ext uri="{FF2B5EF4-FFF2-40B4-BE49-F238E27FC236}">
                <a16:creationId xmlns:a16="http://schemas.microsoft.com/office/drawing/2014/main" id="{6F60EF24-9A56-47E1-9150-23AFC81E5369}"/>
              </a:ext>
            </a:extLst>
          </p:cNvPr>
          <p:cNvSpPr>
            <a:spLocks noGrp="1"/>
          </p:cNvSpPr>
          <p:nvPr/>
        </p:nvSpPr>
        <p:spPr>
          <a:xfrm>
            <a:off x="10706100" y="251460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ANÁLISIS REPRODUCIBLE</a:t>
            </a:r>
          </a:p>
        </p:txBody>
      </p:sp>
      <p:sp>
        <p:nvSpPr>
          <p:cNvPr id="6" name="proyecto-body-0">
            <a:extLst>
              <a:ext uri="{FF2B5EF4-FFF2-40B4-BE49-F238E27FC236}">
                <a16:creationId xmlns:a16="http://schemas.microsoft.com/office/drawing/2014/main" id="{B728C230-43FC-4AE9-89DB-B4884D8A6D24}"/>
              </a:ext>
            </a:extLst>
          </p:cNvPr>
          <p:cNvSpPr>
            <a:spLocks noGrp="1"/>
          </p:cNvSpPr>
          <p:nvPr/>
        </p:nvSpPr>
        <p:spPr>
          <a:xfrm>
            <a:off x="10706100" y="2915603"/>
            <a:ext cx="7162800" cy="35356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Órdenes de Compra Ágil</a:t>
            </a:r>
          </a:p>
        </p:txBody>
      </p:sp>
      <p:sp>
        <p:nvSpPr>
          <p:cNvPr id="7" name="proyecto-body-1">
            <a:extLst>
              <a:ext uri="{FF2B5EF4-FFF2-40B4-BE49-F238E27FC236}">
                <a16:creationId xmlns:a16="http://schemas.microsoft.com/office/drawing/2014/main" id="{3439ECD5-8BF5-48C1-A94F-9D1BD7970E35}"/>
              </a:ext>
            </a:extLst>
          </p:cNvPr>
          <p:cNvSpPr>
            <a:spLocks noGrp="1"/>
          </p:cNvSpPr>
          <p:nvPr/>
        </p:nvSpPr>
        <p:spPr>
          <a:xfrm>
            <a:off x="10706100" y="3230499"/>
            <a:ext cx="7162800" cy="35356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Municipalidad de Valparaíso</a:t>
            </a:r>
          </a:p>
        </p:txBody>
      </p:sp>
      <p:sp>
        <p:nvSpPr>
          <p:cNvPr id="8" name="proyecto-body-2">
            <a:extLst>
              <a:ext uri="{FF2B5EF4-FFF2-40B4-BE49-F238E27FC236}">
                <a16:creationId xmlns:a16="http://schemas.microsoft.com/office/drawing/2014/main" id="{3B87D76B-B959-413F-8D26-4204F254E50A}"/>
              </a:ext>
            </a:extLst>
          </p:cNvPr>
          <p:cNvSpPr>
            <a:spLocks noGrp="1"/>
          </p:cNvSpPr>
          <p:nvPr/>
        </p:nvSpPr>
        <p:spPr>
          <a:xfrm>
            <a:off x="10706100" y="3545396"/>
            <a:ext cx="7162800" cy="35356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Primer semestre de 2025</a:t>
            </a:r>
          </a:p>
        </p:txBody>
      </p:sp>
      <p:sp>
        <p:nvSpPr>
          <p:cNvPr id="9" name="node-problema">
            <a:extLst>
              <a:ext uri="{FF2B5EF4-FFF2-40B4-BE49-F238E27FC236}">
                <a16:creationId xmlns:a16="http://schemas.microsoft.com/office/drawing/2014/main" id="{D5A0C713-184B-4EE4-83AE-BD9A07B9EAD3}"/>
              </a:ext>
            </a:extLst>
          </p:cNvPr>
          <p:cNvSpPr>
            <a:spLocks noGrp="1"/>
          </p:cNvSpPr>
          <p:nvPr/>
        </p:nvSpPr>
        <p:spPr>
          <a:xfrm>
            <a:off x="10477500" y="4857750"/>
            <a:ext cx="7620000" cy="1905000"/>
          </a:xfrm>
          <a:prstGeom prst="roundRect">
            <a:avLst>
              <a:gd name="adj" fmla="val 6000"/>
            </a:avLst>
          </a:prstGeom>
          <a:solidFill>
            <a:srgbClr val="FFF4E7"/>
          </a:solidFill>
          <a:ln w="22860">
            <a:solidFill>
              <a:srgbClr val="BC82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problema-title-0">
            <a:extLst>
              <a:ext uri="{FF2B5EF4-FFF2-40B4-BE49-F238E27FC236}">
                <a16:creationId xmlns:a16="http://schemas.microsoft.com/office/drawing/2014/main" id="{1C6D81D5-143C-4558-A256-8D65539B5EB1}"/>
              </a:ext>
            </a:extLst>
          </p:cNvPr>
          <p:cNvSpPr>
            <a:spLocks noGrp="1"/>
          </p:cNvSpPr>
          <p:nvPr/>
        </p:nvSpPr>
        <p:spPr>
          <a:xfrm>
            <a:off x="10706100" y="499110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PROBLEMÁTICA</a:t>
            </a:r>
          </a:p>
        </p:txBody>
      </p:sp>
      <p:sp>
        <p:nvSpPr>
          <p:cNvPr id="11" name="problema-body-0">
            <a:extLst>
              <a:ext uri="{FF2B5EF4-FFF2-40B4-BE49-F238E27FC236}">
                <a16:creationId xmlns:a16="http://schemas.microsoft.com/office/drawing/2014/main" id="{91FE3E88-48C4-4DB8-A91E-E478D358E3BF}"/>
              </a:ext>
            </a:extLst>
          </p:cNvPr>
          <p:cNvSpPr>
            <a:spLocks noGrp="1"/>
          </p:cNvSpPr>
          <p:nvPr/>
        </p:nvSpPr>
        <p:spPr>
          <a:xfrm>
            <a:off x="10706100" y="5392103"/>
            <a:ext cx="71628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¿Cómo se distribuyen los montos de las órdenes</a:t>
            </a:r>
          </a:p>
        </p:txBody>
      </p:sp>
      <p:sp>
        <p:nvSpPr>
          <p:cNvPr id="12" name="problema-body-1">
            <a:extLst>
              <a:ext uri="{FF2B5EF4-FFF2-40B4-BE49-F238E27FC236}">
                <a16:creationId xmlns:a16="http://schemas.microsoft.com/office/drawing/2014/main" id="{70A8F65E-8006-4F7D-BBF7-CED4DA97F59B}"/>
              </a:ext>
            </a:extLst>
          </p:cNvPr>
          <p:cNvSpPr>
            <a:spLocks noGrp="1"/>
          </p:cNvSpPr>
          <p:nvPr/>
        </p:nvSpPr>
        <p:spPr>
          <a:xfrm>
            <a:off x="10706100" y="5717858"/>
            <a:ext cx="71628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de Compra Ágil según proveedores, rubros y mes</a:t>
            </a:r>
          </a:p>
        </p:txBody>
      </p:sp>
      <p:sp>
        <p:nvSpPr>
          <p:cNvPr id="13" name="problema-body-2">
            <a:extLst>
              <a:ext uri="{FF2B5EF4-FFF2-40B4-BE49-F238E27FC236}">
                <a16:creationId xmlns:a16="http://schemas.microsoft.com/office/drawing/2014/main" id="{08B1EC6D-8F9C-44CD-8BA7-23D1D8BE4864}"/>
              </a:ext>
            </a:extLst>
          </p:cNvPr>
          <p:cNvSpPr>
            <a:spLocks noGrp="1"/>
          </p:cNvSpPr>
          <p:nvPr/>
        </p:nvSpPr>
        <p:spPr>
          <a:xfrm>
            <a:off x="10706100" y="6043613"/>
            <a:ext cx="71628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de envío?</a:t>
            </a:r>
          </a:p>
        </p:txBody>
      </p:sp>
      <p:sp>
        <p:nvSpPr>
          <p:cNvPr id="14" name="node-datos">
            <a:extLst>
              <a:ext uri="{FF2B5EF4-FFF2-40B4-BE49-F238E27FC236}">
                <a16:creationId xmlns:a16="http://schemas.microsoft.com/office/drawing/2014/main" id="{1C43A395-4A90-465E-A1CB-4226EDBFB3B9}"/>
              </a:ext>
            </a:extLst>
          </p:cNvPr>
          <p:cNvSpPr>
            <a:spLocks noGrp="1"/>
          </p:cNvSpPr>
          <p:nvPr/>
        </p:nvSpPr>
        <p:spPr>
          <a:xfrm>
            <a:off x="10477500" y="7620000"/>
            <a:ext cx="7620000" cy="2000250"/>
          </a:xfrm>
          <a:prstGeom prst="roundRect">
            <a:avLst>
              <a:gd name="adj" fmla="val 5714"/>
            </a:avLst>
          </a:prstGeom>
          <a:solidFill>
            <a:srgbClr val="EBF6EF"/>
          </a:solidFill>
          <a:ln w="22860">
            <a:solidFill>
              <a:srgbClr val="4280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datos-title-0">
            <a:extLst>
              <a:ext uri="{FF2B5EF4-FFF2-40B4-BE49-F238E27FC236}">
                <a16:creationId xmlns:a16="http://schemas.microsoft.com/office/drawing/2014/main" id="{E22D3F32-E239-400C-8192-DBD6195B1515}"/>
              </a:ext>
            </a:extLst>
          </p:cNvPr>
          <p:cNvSpPr>
            <a:spLocks noGrp="1"/>
          </p:cNvSpPr>
          <p:nvPr/>
        </p:nvSpPr>
        <p:spPr>
          <a:xfrm>
            <a:off x="10706100" y="775335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CONJUNTO DE DATOS</a:t>
            </a:r>
          </a:p>
        </p:txBody>
      </p:sp>
      <p:sp>
        <p:nvSpPr>
          <p:cNvPr id="16" name="datos-body-0">
            <a:extLst>
              <a:ext uri="{FF2B5EF4-FFF2-40B4-BE49-F238E27FC236}">
                <a16:creationId xmlns:a16="http://schemas.microsoft.com/office/drawing/2014/main" id="{38D85117-069C-48A5-87DD-72331C66484D}"/>
              </a:ext>
            </a:extLst>
          </p:cNvPr>
          <p:cNvSpPr>
            <a:spLocks noGrp="1"/>
          </p:cNvSpPr>
          <p:nvPr/>
        </p:nvSpPr>
        <p:spPr>
          <a:xfrm>
            <a:off x="10706100" y="815435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11.177 filas y 63 variables.</a:t>
            </a:r>
          </a:p>
        </p:txBody>
      </p:sp>
      <p:sp>
        <p:nvSpPr>
          <p:cNvPr id="17" name="datos-body-1">
            <a:extLst>
              <a:ext uri="{FF2B5EF4-FFF2-40B4-BE49-F238E27FC236}">
                <a16:creationId xmlns:a16="http://schemas.microsoft.com/office/drawing/2014/main" id="{D4E93D0A-F120-46E9-85FB-D7CF6EAFCC28}"/>
              </a:ext>
            </a:extLst>
          </p:cNvPr>
          <p:cNvSpPr>
            <a:spLocks noGrp="1"/>
          </p:cNvSpPr>
          <p:nvPr/>
        </p:nvSpPr>
        <p:spPr>
          <a:xfrm>
            <a:off x="10706100" y="844753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Campos clave: codigoOC, FechaEnvioOC,</a:t>
            </a:r>
          </a:p>
        </p:txBody>
      </p:sp>
      <p:sp>
        <p:nvSpPr>
          <p:cNvPr id="18" name="datos-body-2">
            <a:extLst>
              <a:ext uri="{FF2B5EF4-FFF2-40B4-BE49-F238E27FC236}">
                <a16:creationId xmlns:a16="http://schemas.microsoft.com/office/drawing/2014/main" id="{9F4A60D8-5167-4526-AA6D-CD40B37BC1D5}"/>
              </a:ext>
            </a:extLst>
          </p:cNvPr>
          <p:cNvSpPr>
            <a:spLocks noGrp="1"/>
          </p:cNvSpPr>
          <p:nvPr/>
        </p:nvSpPr>
        <p:spPr>
          <a:xfrm>
            <a:off x="10706100" y="874071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ProveedorRUT, MonedaOC, MontoTotalOC, EstadoOC y</a:t>
            </a:r>
          </a:p>
        </p:txBody>
      </p:sp>
      <p:sp>
        <p:nvSpPr>
          <p:cNvPr id="19" name="datos-body-3">
            <a:extLst>
              <a:ext uri="{FF2B5EF4-FFF2-40B4-BE49-F238E27FC236}">
                <a16:creationId xmlns:a16="http://schemas.microsoft.com/office/drawing/2014/main" id="{099F1FB2-542E-4496-9FE9-11EA2A7B721C}"/>
              </a:ext>
            </a:extLst>
          </p:cNvPr>
          <p:cNvSpPr>
            <a:spLocks noGrp="1"/>
          </p:cNvSpPr>
          <p:nvPr/>
        </p:nvSpPr>
        <p:spPr>
          <a:xfrm>
            <a:off x="10706100" y="903389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RubroN1/N2/N3.</a:t>
            </a:r>
          </a:p>
        </p:txBody>
      </p:sp>
      <p:sp>
        <p:nvSpPr>
          <p:cNvPr id="20" name="node-carga">
            <a:extLst>
              <a:ext uri="{FF2B5EF4-FFF2-40B4-BE49-F238E27FC236}">
                <a16:creationId xmlns:a16="http://schemas.microsoft.com/office/drawing/2014/main" id="{620C4643-8D4F-416F-9BFC-F97555ED18AB}"/>
              </a:ext>
            </a:extLst>
          </p:cNvPr>
          <p:cNvSpPr>
            <a:spLocks noGrp="1"/>
          </p:cNvSpPr>
          <p:nvPr/>
        </p:nvSpPr>
        <p:spPr>
          <a:xfrm>
            <a:off x="10477500" y="10477500"/>
            <a:ext cx="7620000" cy="1714500"/>
          </a:xfrm>
          <a:prstGeom prst="roundRect">
            <a:avLst>
              <a:gd name="adj" fmla="val 6667"/>
            </a:avLst>
          </a:prstGeom>
          <a:solidFill>
            <a:srgbClr val="EDF3FC"/>
          </a:solidFill>
          <a:ln w="22860">
            <a:solidFill>
              <a:srgbClr val="5078B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carga-title-0">
            <a:extLst>
              <a:ext uri="{FF2B5EF4-FFF2-40B4-BE49-F238E27FC236}">
                <a16:creationId xmlns:a16="http://schemas.microsoft.com/office/drawing/2014/main" id="{3C6EB420-A32E-455E-9436-0ADBE8570F21}"/>
              </a:ext>
            </a:extLst>
          </p:cNvPr>
          <p:cNvSpPr>
            <a:spLocks noGrp="1"/>
          </p:cNvSpPr>
          <p:nvPr/>
        </p:nvSpPr>
        <p:spPr>
          <a:xfrm>
            <a:off x="10706100" y="1061085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01 CARGA Y CONSERVACIÓN</a:t>
            </a:r>
          </a:p>
        </p:txBody>
      </p:sp>
      <p:sp>
        <p:nvSpPr>
          <p:cNvPr id="22" name="carga-body-0">
            <a:extLst>
              <a:ext uri="{FF2B5EF4-FFF2-40B4-BE49-F238E27FC236}">
                <a16:creationId xmlns:a16="http://schemas.microsoft.com/office/drawing/2014/main" id="{AC9E9F1C-3804-42A4-B8F7-EA7E23291F6E}"/>
              </a:ext>
            </a:extLst>
          </p:cNvPr>
          <p:cNvSpPr>
            <a:spLocks noGrp="1"/>
          </p:cNvSpPr>
          <p:nvPr/>
        </p:nvSpPr>
        <p:spPr>
          <a:xfrm>
            <a:off x="10706100" y="1101185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Leer el CSV original por código.</a:t>
            </a:r>
          </a:p>
        </p:txBody>
      </p:sp>
      <p:sp>
        <p:nvSpPr>
          <p:cNvPr id="23" name="carga-body-1">
            <a:extLst>
              <a:ext uri="{FF2B5EF4-FFF2-40B4-BE49-F238E27FC236}">
                <a16:creationId xmlns:a16="http://schemas.microsoft.com/office/drawing/2014/main" id="{DE70E1EC-7966-4D23-A0FC-F23E5DF991D3}"/>
              </a:ext>
            </a:extLst>
          </p:cNvPr>
          <p:cNvSpPr>
            <a:spLocks noGrp="1"/>
          </p:cNvSpPr>
          <p:nvPr/>
        </p:nvSpPr>
        <p:spPr>
          <a:xfrm>
            <a:off x="10706100" y="1130503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Conservarlo sin cambios en data/raw/.</a:t>
            </a:r>
          </a:p>
        </p:txBody>
      </p:sp>
      <p:sp>
        <p:nvSpPr>
          <p:cNvPr id="24" name="carga-body-2">
            <a:extLst>
              <a:ext uri="{FF2B5EF4-FFF2-40B4-BE49-F238E27FC236}">
                <a16:creationId xmlns:a16="http://schemas.microsoft.com/office/drawing/2014/main" id="{8A55BB7F-E8B7-482E-80B8-E1F5B251A141}"/>
              </a:ext>
            </a:extLst>
          </p:cNvPr>
          <p:cNvSpPr>
            <a:spLocks noGrp="1"/>
          </p:cNvSpPr>
          <p:nvPr/>
        </p:nvSpPr>
        <p:spPr>
          <a:xfrm>
            <a:off x="10706100" y="1159821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Registrar fuente, fecha y huella SHA-256.</a:t>
            </a:r>
          </a:p>
        </p:txBody>
      </p:sp>
      <p:sp>
        <p:nvSpPr>
          <p:cNvPr id="25" name="node-diagnostico">
            <a:extLst>
              <a:ext uri="{FF2B5EF4-FFF2-40B4-BE49-F238E27FC236}">
                <a16:creationId xmlns:a16="http://schemas.microsoft.com/office/drawing/2014/main" id="{65FEA9DE-0437-48C3-B914-29C683CCB8C8}"/>
              </a:ext>
            </a:extLst>
          </p:cNvPr>
          <p:cNvSpPr>
            <a:spLocks noGrp="1"/>
          </p:cNvSpPr>
          <p:nvPr/>
        </p:nvSpPr>
        <p:spPr>
          <a:xfrm>
            <a:off x="10477500" y="13049250"/>
            <a:ext cx="7620000" cy="2000250"/>
          </a:xfrm>
          <a:prstGeom prst="roundRect">
            <a:avLst>
              <a:gd name="adj" fmla="val 5714"/>
            </a:avLst>
          </a:prstGeom>
          <a:solidFill>
            <a:srgbClr val="EDF3FC"/>
          </a:solidFill>
          <a:ln w="22860">
            <a:solidFill>
              <a:srgbClr val="5078B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diagnostico-title-0">
            <a:extLst>
              <a:ext uri="{FF2B5EF4-FFF2-40B4-BE49-F238E27FC236}">
                <a16:creationId xmlns:a16="http://schemas.microsoft.com/office/drawing/2014/main" id="{0215749D-9E5C-495D-9654-4CFAE6196B15}"/>
              </a:ext>
            </a:extLst>
          </p:cNvPr>
          <p:cNvSpPr>
            <a:spLocks noGrp="1"/>
          </p:cNvSpPr>
          <p:nvPr/>
        </p:nvSpPr>
        <p:spPr>
          <a:xfrm>
            <a:off x="10706100" y="1318260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02 DIAGNÓSTICO</a:t>
            </a:r>
          </a:p>
        </p:txBody>
      </p:sp>
      <p:sp>
        <p:nvSpPr>
          <p:cNvPr id="27" name="diagnostico-body-0">
            <a:extLst>
              <a:ext uri="{FF2B5EF4-FFF2-40B4-BE49-F238E27FC236}">
                <a16:creationId xmlns:a16="http://schemas.microsoft.com/office/drawing/2014/main" id="{C40E380E-6D60-4F3F-A0C8-7671A6705843}"/>
              </a:ext>
            </a:extLst>
          </p:cNvPr>
          <p:cNvSpPr>
            <a:spLocks noGrp="1"/>
          </p:cNvSpPr>
          <p:nvPr/>
        </p:nvSpPr>
        <p:spPr>
          <a:xfrm>
            <a:off x="10706100" y="1358360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Examinar tipos, nulos, repeticiones, claves, monedas y</a:t>
            </a:r>
          </a:p>
        </p:txBody>
      </p:sp>
      <p:sp>
        <p:nvSpPr>
          <p:cNvPr id="28" name="diagnostico-body-1">
            <a:extLst>
              <a:ext uri="{FF2B5EF4-FFF2-40B4-BE49-F238E27FC236}">
                <a16:creationId xmlns:a16="http://schemas.microsoft.com/office/drawing/2014/main" id="{87D5679F-FD7F-401B-8AE8-F618AEFC39E0}"/>
              </a:ext>
            </a:extLst>
          </p:cNvPr>
          <p:cNvSpPr>
            <a:spLocks noGrp="1"/>
          </p:cNvSpPr>
          <p:nvPr/>
        </p:nvSpPr>
        <p:spPr>
          <a:xfrm>
            <a:off x="10706100" y="1387678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estados.</a:t>
            </a:r>
          </a:p>
        </p:txBody>
      </p:sp>
      <p:sp>
        <p:nvSpPr>
          <p:cNvPr id="29" name="diagnostico-body-2">
            <a:extLst>
              <a:ext uri="{FF2B5EF4-FFF2-40B4-BE49-F238E27FC236}">
                <a16:creationId xmlns:a16="http://schemas.microsoft.com/office/drawing/2014/main" id="{9AA42EAD-2E10-400D-900D-C9BF88F6B6A8}"/>
              </a:ext>
            </a:extLst>
          </p:cNvPr>
          <p:cNvSpPr>
            <a:spLocks noGrp="1"/>
          </p:cNvSpPr>
          <p:nvPr/>
        </p:nvSpPr>
        <p:spPr>
          <a:xfrm>
            <a:off x="10706100" y="1416996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Distinguir orden, ítem y cotización.</a:t>
            </a:r>
          </a:p>
        </p:txBody>
      </p:sp>
      <p:sp>
        <p:nvSpPr>
          <p:cNvPr id="30" name="diagnostico-body-3">
            <a:extLst>
              <a:ext uri="{FF2B5EF4-FFF2-40B4-BE49-F238E27FC236}">
                <a16:creationId xmlns:a16="http://schemas.microsoft.com/office/drawing/2014/main" id="{1D065EBB-7C90-40A1-B067-3D05B73CDDA7}"/>
              </a:ext>
            </a:extLst>
          </p:cNvPr>
          <p:cNvSpPr>
            <a:spLocks noGrp="1"/>
          </p:cNvSpPr>
          <p:nvPr/>
        </p:nvSpPr>
        <p:spPr>
          <a:xfrm>
            <a:off x="10706100" y="1446314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Registrar cifras antes de transformar.</a:t>
            </a:r>
          </a:p>
        </p:txBody>
      </p:sp>
      <p:sp>
        <p:nvSpPr>
          <p:cNvPr id="31" name="node-preparacion">
            <a:extLst>
              <a:ext uri="{FF2B5EF4-FFF2-40B4-BE49-F238E27FC236}">
                <a16:creationId xmlns:a16="http://schemas.microsoft.com/office/drawing/2014/main" id="{15E7BD07-DFE9-4257-9C92-3FDFB5754B39}"/>
              </a:ext>
            </a:extLst>
          </p:cNvPr>
          <p:cNvSpPr>
            <a:spLocks noGrp="1"/>
          </p:cNvSpPr>
          <p:nvPr/>
        </p:nvSpPr>
        <p:spPr>
          <a:xfrm>
            <a:off x="10477500" y="15906750"/>
            <a:ext cx="7620000" cy="2190750"/>
          </a:xfrm>
          <a:prstGeom prst="roundRect">
            <a:avLst>
              <a:gd name="adj" fmla="val 5217"/>
            </a:avLst>
          </a:prstGeom>
          <a:solidFill>
            <a:srgbClr val="EDF3FC"/>
          </a:solidFill>
          <a:ln w="22860">
            <a:solidFill>
              <a:srgbClr val="5078B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preparacion-title-0">
            <a:extLst>
              <a:ext uri="{FF2B5EF4-FFF2-40B4-BE49-F238E27FC236}">
                <a16:creationId xmlns:a16="http://schemas.microsoft.com/office/drawing/2014/main" id="{33BE6023-ADFA-4FFD-B981-D831DFC31383}"/>
              </a:ext>
            </a:extLst>
          </p:cNvPr>
          <p:cNvSpPr>
            <a:spLocks noGrp="1"/>
          </p:cNvSpPr>
          <p:nvPr/>
        </p:nvSpPr>
        <p:spPr>
          <a:xfrm>
            <a:off x="10706100" y="1604010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03 SELECCIÓN Y LIMPIEZA</a:t>
            </a:r>
          </a:p>
        </p:txBody>
      </p:sp>
      <p:sp>
        <p:nvSpPr>
          <p:cNvPr id="33" name="preparacion-body-0">
            <a:extLst>
              <a:ext uri="{FF2B5EF4-FFF2-40B4-BE49-F238E27FC236}">
                <a16:creationId xmlns:a16="http://schemas.microsoft.com/office/drawing/2014/main" id="{398F1318-2170-4ADB-9E69-9AD8C2B2F65F}"/>
              </a:ext>
            </a:extLst>
          </p:cNvPr>
          <p:cNvSpPr>
            <a:spLocks noGrp="1"/>
          </p:cNvSpPr>
          <p:nvPr/>
        </p:nvSpPr>
        <p:spPr>
          <a:xfrm>
            <a:off x="10706100" y="1644110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Generar el subconjunto por código con columnas y</a:t>
            </a:r>
          </a:p>
        </p:txBody>
      </p:sp>
      <p:sp>
        <p:nvSpPr>
          <p:cNvPr id="34" name="preparacion-body-1">
            <a:extLst>
              <a:ext uri="{FF2B5EF4-FFF2-40B4-BE49-F238E27FC236}">
                <a16:creationId xmlns:a16="http://schemas.microsoft.com/office/drawing/2014/main" id="{7AB05FAB-64C2-49E2-AE36-B7155B59A8BC}"/>
              </a:ext>
            </a:extLst>
          </p:cNvPr>
          <p:cNvSpPr>
            <a:spLocks noGrp="1"/>
          </p:cNvSpPr>
          <p:nvPr/>
        </p:nvSpPr>
        <p:spPr>
          <a:xfrm>
            <a:off x="10706100" y="1673428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filtros explícitos.</a:t>
            </a:r>
          </a:p>
        </p:txBody>
      </p:sp>
      <p:sp>
        <p:nvSpPr>
          <p:cNvPr id="35" name="preparacion-body-2">
            <a:extLst>
              <a:ext uri="{FF2B5EF4-FFF2-40B4-BE49-F238E27FC236}">
                <a16:creationId xmlns:a16="http://schemas.microsoft.com/office/drawing/2014/main" id="{395E98C2-7371-432E-9F16-CDFCC75D9A5B}"/>
              </a:ext>
            </a:extLst>
          </p:cNvPr>
          <p:cNvSpPr>
            <a:spLocks noGrp="1"/>
          </p:cNvSpPr>
          <p:nvPr/>
        </p:nvSpPr>
        <p:spPr>
          <a:xfrm>
            <a:off x="10706100" y="1702746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Convertir fechas y montos. Normalizar RUT.</a:t>
            </a:r>
          </a:p>
        </p:txBody>
      </p:sp>
      <p:sp>
        <p:nvSpPr>
          <p:cNvPr id="36" name="preparacion-body-3">
            <a:extLst>
              <a:ext uri="{FF2B5EF4-FFF2-40B4-BE49-F238E27FC236}">
                <a16:creationId xmlns:a16="http://schemas.microsoft.com/office/drawing/2014/main" id="{D5005BF2-A8AD-4141-B9ED-96E0C3862FA4}"/>
              </a:ext>
            </a:extLst>
          </p:cNvPr>
          <p:cNvSpPr>
            <a:spLocks noGrp="1"/>
          </p:cNvSpPr>
          <p:nvPr/>
        </p:nvSpPr>
        <p:spPr>
          <a:xfrm>
            <a:off x="10706100" y="1732064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Aplicar reglas justificadas de faltantes y reconstrucción</a:t>
            </a:r>
          </a:p>
        </p:txBody>
      </p:sp>
      <p:sp>
        <p:nvSpPr>
          <p:cNvPr id="37" name="preparacion-body-4">
            <a:extLst>
              <a:ext uri="{FF2B5EF4-FFF2-40B4-BE49-F238E27FC236}">
                <a16:creationId xmlns:a16="http://schemas.microsoft.com/office/drawing/2014/main" id="{740B7EDD-99B5-4B63-B339-646C29E5B0F7}"/>
              </a:ext>
            </a:extLst>
          </p:cNvPr>
          <p:cNvSpPr>
            <a:spLocks noGrp="1"/>
          </p:cNvSpPr>
          <p:nvPr/>
        </p:nvSpPr>
        <p:spPr>
          <a:xfrm>
            <a:off x="10706100" y="17613820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del detalle.</a:t>
            </a:r>
          </a:p>
        </p:txBody>
      </p:sp>
      <p:sp>
        <p:nvSpPr>
          <p:cNvPr id="38" name="node-validacion">
            <a:extLst>
              <a:ext uri="{FF2B5EF4-FFF2-40B4-BE49-F238E27FC236}">
                <a16:creationId xmlns:a16="http://schemas.microsoft.com/office/drawing/2014/main" id="{BE62D1B9-8524-4B3D-8846-82D241F379C5}"/>
              </a:ext>
            </a:extLst>
          </p:cNvPr>
          <p:cNvSpPr>
            <a:spLocks noGrp="1"/>
          </p:cNvSpPr>
          <p:nvPr/>
        </p:nvSpPr>
        <p:spPr>
          <a:xfrm>
            <a:off x="10477500" y="18954750"/>
            <a:ext cx="7620000" cy="1905000"/>
          </a:xfrm>
          <a:prstGeom prst="roundRect">
            <a:avLst>
              <a:gd name="adj" fmla="val 6000"/>
            </a:avLst>
          </a:prstGeom>
          <a:solidFill>
            <a:srgbClr val="EDF3FC"/>
          </a:solidFill>
          <a:ln w="22860">
            <a:solidFill>
              <a:srgbClr val="5078B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validacion-title-0">
            <a:extLst>
              <a:ext uri="{FF2B5EF4-FFF2-40B4-BE49-F238E27FC236}">
                <a16:creationId xmlns:a16="http://schemas.microsoft.com/office/drawing/2014/main" id="{F5AD646C-44D0-41B1-8712-12FF2629E9D2}"/>
              </a:ext>
            </a:extLst>
          </p:cNvPr>
          <p:cNvSpPr>
            <a:spLocks noGrp="1"/>
          </p:cNvSpPr>
          <p:nvPr/>
        </p:nvSpPr>
        <p:spPr>
          <a:xfrm>
            <a:off x="10706100" y="1908810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04 VALIDACIÓN</a:t>
            </a:r>
          </a:p>
        </p:txBody>
      </p:sp>
      <p:sp>
        <p:nvSpPr>
          <p:cNvPr id="40" name="validacion-body-0">
            <a:extLst>
              <a:ext uri="{FF2B5EF4-FFF2-40B4-BE49-F238E27FC236}">
                <a16:creationId xmlns:a16="http://schemas.microsoft.com/office/drawing/2014/main" id="{8F648BAB-C384-45A4-9310-9C0D67858EF4}"/>
              </a:ext>
            </a:extLst>
          </p:cNvPr>
          <p:cNvSpPr>
            <a:spLocks noGrp="1"/>
          </p:cNvSpPr>
          <p:nvPr/>
        </p:nvSpPr>
        <p:spPr>
          <a:xfrm>
            <a:off x="10706100" y="1948910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Comprobar atributos por codigoOC.</a:t>
            </a:r>
          </a:p>
        </p:txBody>
      </p:sp>
      <p:sp>
        <p:nvSpPr>
          <p:cNvPr id="41" name="validacion-body-1">
            <a:extLst>
              <a:ext uri="{FF2B5EF4-FFF2-40B4-BE49-F238E27FC236}">
                <a16:creationId xmlns:a16="http://schemas.microsoft.com/office/drawing/2014/main" id="{E027FE48-9735-41B7-AB10-61342A9F913D}"/>
              </a:ext>
            </a:extLst>
          </p:cNvPr>
          <p:cNvSpPr>
            <a:spLocks noGrp="1"/>
          </p:cNvSpPr>
          <p:nvPr/>
        </p:nvSpPr>
        <p:spPr>
          <a:xfrm>
            <a:off x="10706100" y="1978228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Conciliar el detalle con el neto de la orden.</a:t>
            </a:r>
          </a:p>
        </p:txBody>
      </p:sp>
      <p:sp>
        <p:nvSpPr>
          <p:cNvPr id="42" name="validacion-body-2">
            <a:extLst>
              <a:ext uri="{FF2B5EF4-FFF2-40B4-BE49-F238E27FC236}">
                <a16:creationId xmlns:a16="http://schemas.microsoft.com/office/drawing/2014/main" id="{DF0E6B3C-1720-4047-BF84-2E97FA38B35F}"/>
              </a:ext>
            </a:extLst>
          </p:cNvPr>
          <p:cNvSpPr>
            <a:spLocks noGrp="1"/>
          </p:cNvSpPr>
          <p:nvPr/>
        </p:nvSpPr>
        <p:spPr>
          <a:xfrm>
            <a:off x="10706100" y="2007546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Controlar filas, claves y montos antes y después.</a:t>
            </a:r>
          </a:p>
        </p:txBody>
      </p:sp>
      <p:sp>
        <p:nvSpPr>
          <p:cNvPr id="43" name="validacion-body-3">
            <a:extLst>
              <a:ext uri="{FF2B5EF4-FFF2-40B4-BE49-F238E27FC236}">
                <a16:creationId xmlns:a16="http://schemas.microsoft.com/office/drawing/2014/main" id="{E5D45169-8EDA-4686-802B-BC9D157DAFB4}"/>
              </a:ext>
            </a:extLst>
          </p:cNvPr>
          <p:cNvSpPr>
            <a:spLocks noGrp="1"/>
          </p:cNvSpPr>
          <p:nvPr/>
        </p:nvSpPr>
        <p:spPr>
          <a:xfrm>
            <a:off x="10706100" y="2036864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Guardar datos procesados.</a:t>
            </a:r>
          </a:p>
        </p:txBody>
      </p:sp>
      <p:sp>
        <p:nvSpPr>
          <p:cNvPr id="44" name="node-analisis">
            <a:extLst>
              <a:ext uri="{FF2B5EF4-FFF2-40B4-BE49-F238E27FC236}">
                <a16:creationId xmlns:a16="http://schemas.microsoft.com/office/drawing/2014/main" id="{BD22A5A6-9F99-4507-AA24-AC9375178832}"/>
              </a:ext>
            </a:extLst>
          </p:cNvPr>
          <p:cNvSpPr>
            <a:spLocks noGrp="1"/>
          </p:cNvSpPr>
          <p:nvPr/>
        </p:nvSpPr>
        <p:spPr>
          <a:xfrm>
            <a:off x="10477500" y="21717000"/>
            <a:ext cx="7620000" cy="2190750"/>
          </a:xfrm>
          <a:prstGeom prst="roundRect">
            <a:avLst>
              <a:gd name="adj" fmla="val 5217"/>
            </a:avLst>
          </a:prstGeom>
          <a:solidFill>
            <a:srgbClr val="EDF3FC"/>
          </a:solidFill>
          <a:ln w="22860">
            <a:solidFill>
              <a:srgbClr val="5078B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analisis-title-0">
            <a:extLst>
              <a:ext uri="{FF2B5EF4-FFF2-40B4-BE49-F238E27FC236}">
                <a16:creationId xmlns:a16="http://schemas.microsoft.com/office/drawing/2014/main" id="{9C5C324E-3E6D-433A-A53B-3706E39ADE90}"/>
              </a:ext>
            </a:extLst>
          </p:cNvPr>
          <p:cNvSpPr>
            <a:spLocks noGrp="1"/>
          </p:cNvSpPr>
          <p:nvPr/>
        </p:nvSpPr>
        <p:spPr>
          <a:xfrm>
            <a:off x="10706100" y="2185035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05 EXPLORACIÓN Y ANÁLISIS</a:t>
            </a:r>
          </a:p>
        </p:txBody>
      </p:sp>
      <p:sp>
        <p:nvSpPr>
          <p:cNvPr id="46" name="analisis-body-0">
            <a:extLst>
              <a:ext uri="{FF2B5EF4-FFF2-40B4-BE49-F238E27FC236}">
                <a16:creationId xmlns:a16="http://schemas.microsoft.com/office/drawing/2014/main" id="{B7E4E579-8A36-4A5F-A60C-13F41A30BD5F}"/>
              </a:ext>
            </a:extLst>
          </p:cNvPr>
          <p:cNvSpPr>
            <a:spLocks noGrp="1"/>
          </p:cNvSpPr>
          <p:nvPr/>
        </p:nvSpPr>
        <p:spPr>
          <a:xfrm>
            <a:off x="10706100" y="2225135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Órdenes: montos y participación por RUT.</a:t>
            </a:r>
          </a:p>
        </p:txBody>
      </p:sp>
      <p:sp>
        <p:nvSpPr>
          <p:cNvPr id="47" name="analisis-body-1">
            <a:extLst>
              <a:ext uri="{FF2B5EF4-FFF2-40B4-BE49-F238E27FC236}">
                <a16:creationId xmlns:a16="http://schemas.microsoft.com/office/drawing/2014/main" id="{C46F6CFA-F45A-424C-86A8-53EC542BFBFB}"/>
              </a:ext>
            </a:extLst>
          </p:cNvPr>
          <p:cNvSpPr>
            <a:spLocks noGrp="1"/>
          </p:cNvSpPr>
          <p:nvPr/>
        </p:nvSpPr>
        <p:spPr>
          <a:xfrm>
            <a:off x="10706100" y="2254453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Ítems validados: distribución por rubro.</a:t>
            </a:r>
          </a:p>
        </p:txBody>
      </p:sp>
      <p:sp>
        <p:nvSpPr>
          <p:cNvPr id="48" name="analisis-body-2">
            <a:extLst>
              <a:ext uri="{FF2B5EF4-FFF2-40B4-BE49-F238E27FC236}">
                <a16:creationId xmlns:a16="http://schemas.microsoft.com/office/drawing/2014/main" id="{48733CD0-C29B-442B-99D5-E45CD63CD93D}"/>
              </a:ext>
            </a:extLst>
          </p:cNvPr>
          <p:cNvSpPr>
            <a:spLocks noGrp="1"/>
          </p:cNvSpPr>
          <p:nvPr/>
        </p:nvSpPr>
        <p:spPr>
          <a:xfrm>
            <a:off x="10706100" y="2283771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Mes de envío: variaciones del semestre.</a:t>
            </a:r>
          </a:p>
        </p:txBody>
      </p:sp>
      <p:sp>
        <p:nvSpPr>
          <p:cNvPr id="49" name="analisis-body-3">
            <a:extLst>
              <a:ext uri="{FF2B5EF4-FFF2-40B4-BE49-F238E27FC236}">
                <a16:creationId xmlns:a16="http://schemas.microsoft.com/office/drawing/2014/main" id="{ED5A25E4-D529-4EA3-8D5B-9F7C67E265BF}"/>
              </a:ext>
            </a:extLst>
          </p:cNvPr>
          <p:cNvSpPr>
            <a:spLocks noGrp="1"/>
          </p:cNvSpPr>
          <p:nvPr/>
        </p:nvSpPr>
        <p:spPr>
          <a:xfrm>
            <a:off x="10706100" y="2313089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Definir moneda común y estados incluidos.</a:t>
            </a:r>
          </a:p>
        </p:txBody>
      </p:sp>
      <p:sp>
        <p:nvSpPr>
          <p:cNvPr id="50" name="node-interpretacion">
            <a:extLst>
              <a:ext uri="{FF2B5EF4-FFF2-40B4-BE49-F238E27FC236}">
                <a16:creationId xmlns:a16="http://schemas.microsoft.com/office/drawing/2014/main" id="{34E2938F-1B64-4115-9022-89C1F4F4C948}"/>
              </a:ext>
            </a:extLst>
          </p:cNvPr>
          <p:cNvSpPr>
            <a:spLocks noGrp="1"/>
          </p:cNvSpPr>
          <p:nvPr/>
        </p:nvSpPr>
        <p:spPr>
          <a:xfrm>
            <a:off x="10477500" y="24765000"/>
            <a:ext cx="7620000" cy="1809750"/>
          </a:xfrm>
          <a:prstGeom prst="roundRect">
            <a:avLst>
              <a:gd name="adj" fmla="val 6316"/>
            </a:avLst>
          </a:prstGeom>
          <a:solidFill>
            <a:srgbClr val="EDF3FC"/>
          </a:solidFill>
          <a:ln w="22860">
            <a:solidFill>
              <a:srgbClr val="5078B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1" name="interpretacion-title-0">
            <a:extLst>
              <a:ext uri="{FF2B5EF4-FFF2-40B4-BE49-F238E27FC236}">
                <a16:creationId xmlns:a16="http://schemas.microsoft.com/office/drawing/2014/main" id="{B3CC1C7D-89CE-4714-A5D0-EEA72D8306B6}"/>
              </a:ext>
            </a:extLst>
          </p:cNvPr>
          <p:cNvSpPr>
            <a:spLocks noGrp="1"/>
          </p:cNvSpPr>
          <p:nvPr/>
        </p:nvSpPr>
        <p:spPr>
          <a:xfrm>
            <a:off x="10706100" y="2489835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06 VISUALIZACIÓN E INTERPRETACIÓN</a:t>
            </a:r>
          </a:p>
        </p:txBody>
      </p:sp>
      <p:sp>
        <p:nvSpPr>
          <p:cNvPr id="52" name="interpretacion-body-0">
            <a:extLst>
              <a:ext uri="{FF2B5EF4-FFF2-40B4-BE49-F238E27FC236}">
                <a16:creationId xmlns:a16="http://schemas.microsoft.com/office/drawing/2014/main" id="{79D886C9-F232-4211-BABB-C20A62D11E22}"/>
              </a:ext>
            </a:extLst>
          </p:cNvPr>
          <p:cNvSpPr>
            <a:spLocks noGrp="1"/>
          </p:cNvSpPr>
          <p:nvPr/>
        </p:nvSpPr>
        <p:spPr>
          <a:xfrm>
            <a:off x="10706100" y="25299353"/>
            <a:ext cx="7162800" cy="34137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Generar tablas, barras y evolución mensual. Vincular</a:t>
            </a:r>
          </a:p>
        </p:txBody>
      </p:sp>
      <p:sp>
        <p:nvSpPr>
          <p:cNvPr id="53" name="interpretacion-body-1">
            <a:extLst>
              <a:ext uri="{FF2B5EF4-FFF2-40B4-BE49-F238E27FC236}">
                <a16:creationId xmlns:a16="http://schemas.microsoft.com/office/drawing/2014/main" id="{8C97791B-DD60-4BD8-ABCA-57092182341F}"/>
              </a:ext>
            </a:extLst>
          </p:cNvPr>
          <p:cNvSpPr>
            <a:spLocks noGrp="1"/>
          </p:cNvSpPr>
          <p:nvPr/>
        </p:nvSpPr>
        <p:spPr>
          <a:xfrm>
            <a:off x="10706100" y="25603391"/>
            <a:ext cx="7162800" cy="34137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cada resultado con su pregunta, su método y sus</a:t>
            </a:r>
          </a:p>
        </p:txBody>
      </p:sp>
      <p:sp>
        <p:nvSpPr>
          <p:cNvPr id="54" name="interpretacion-body-2">
            <a:extLst>
              <a:ext uri="{FF2B5EF4-FFF2-40B4-BE49-F238E27FC236}">
                <a16:creationId xmlns:a16="http://schemas.microsoft.com/office/drawing/2014/main" id="{C567BE41-38A5-47CA-959D-317DEEA5B32C}"/>
              </a:ext>
            </a:extLst>
          </p:cNvPr>
          <p:cNvSpPr>
            <a:spLocks noGrp="1"/>
          </p:cNvSpPr>
          <p:nvPr/>
        </p:nvSpPr>
        <p:spPr>
          <a:xfrm>
            <a:off x="10706100" y="25907429"/>
            <a:ext cx="7162800" cy="34137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límites.</a:t>
            </a:r>
          </a:p>
        </p:txBody>
      </p:sp>
      <p:sp>
        <p:nvSpPr>
          <p:cNvPr id="55" name="node-reproduccion">
            <a:extLst>
              <a:ext uri="{FF2B5EF4-FFF2-40B4-BE49-F238E27FC236}">
                <a16:creationId xmlns:a16="http://schemas.microsoft.com/office/drawing/2014/main" id="{AAD0EDC0-B3DB-4360-8D5C-DB0422099CAF}"/>
              </a:ext>
            </a:extLst>
          </p:cNvPr>
          <p:cNvSpPr>
            <a:spLocks noGrp="1"/>
          </p:cNvSpPr>
          <p:nvPr/>
        </p:nvSpPr>
        <p:spPr>
          <a:xfrm>
            <a:off x="10477500" y="27432000"/>
            <a:ext cx="7620000" cy="2000250"/>
          </a:xfrm>
          <a:prstGeom prst="roundRect">
            <a:avLst>
              <a:gd name="adj" fmla="val 5714"/>
            </a:avLst>
          </a:prstGeom>
          <a:solidFill>
            <a:srgbClr val="EDF3FC"/>
          </a:solidFill>
          <a:ln w="22860">
            <a:solidFill>
              <a:srgbClr val="5078B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6" name="reproduccion-title-0">
            <a:extLst>
              <a:ext uri="{FF2B5EF4-FFF2-40B4-BE49-F238E27FC236}">
                <a16:creationId xmlns:a16="http://schemas.microsoft.com/office/drawing/2014/main" id="{C3FBD426-8C86-4191-A742-81D554105BCA}"/>
              </a:ext>
            </a:extLst>
          </p:cNvPr>
          <p:cNvSpPr>
            <a:spLocks noGrp="1"/>
          </p:cNvSpPr>
          <p:nvPr/>
        </p:nvSpPr>
        <p:spPr>
          <a:xfrm>
            <a:off x="10706100" y="2756535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07 EJECUCIÓN DESDE CERO</a:t>
            </a:r>
          </a:p>
        </p:txBody>
      </p:sp>
      <p:sp>
        <p:nvSpPr>
          <p:cNvPr id="57" name="reproduccion-body-0">
            <a:extLst>
              <a:ext uri="{FF2B5EF4-FFF2-40B4-BE49-F238E27FC236}">
                <a16:creationId xmlns:a16="http://schemas.microsoft.com/office/drawing/2014/main" id="{196EB0AD-7995-4F51-AEF3-6B131DB0A961}"/>
              </a:ext>
            </a:extLst>
          </p:cNvPr>
          <p:cNvSpPr>
            <a:spLocks noGrp="1"/>
          </p:cNvSpPr>
          <p:nvPr/>
        </p:nvSpPr>
        <p:spPr>
          <a:xfrm>
            <a:off x="10706100" y="2796635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Clonar, crear el entorno e instalar versiones probadas.</a:t>
            </a:r>
          </a:p>
        </p:txBody>
      </p:sp>
      <p:sp>
        <p:nvSpPr>
          <p:cNvPr id="58" name="reproduccion-body-1">
            <a:extLst>
              <a:ext uri="{FF2B5EF4-FFF2-40B4-BE49-F238E27FC236}">
                <a16:creationId xmlns:a16="http://schemas.microsoft.com/office/drawing/2014/main" id="{C501C068-8F37-4F1F-B511-C8C527820E82}"/>
              </a:ext>
            </a:extLst>
          </p:cNvPr>
          <p:cNvSpPr>
            <a:spLocks noGrp="1"/>
          </p:cNvSpPr>
          <p:nvPr/>
        </p:nvSpPr>
        <p:spPr>
          <a:xfrm>
            <a:off x="10706100" y="2825953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Ejecutar notebooks en orden con kernel limpio y rutas</a:t>
            </a:r>
          </a:p>
        </p:txBody>
      </p:sp>
      <p:sp>
        <p:nvSpPr>
          <p:cNvPr id="59" name="reproduccion-body-2">
            <a:extLst>
              <a:ext uri="{FF2B5EF4-FFF2-40B4-BE49-F238E27FC236}">
                <a16:creationId xmlns:a16="http://schemas.microsoft.com/office/drawing/2014/main" id="{6766A029-4A08-47E6-A322-FCAC06F85FFB}"/>
              </a:ext>
            </a:extLst>
          </p:cNvPr>
          <p:cNvSpPr>
            <a:spLocks noGrp="1"/>
          </p:cNvSpPr>
          <p:nvPr/>
        </p:nvSpPr>
        <p:spPr>
          <a:xfrm>
            <a:off x="10706100" y="2855271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D3E68"/>
                </a:solidFill>
                <a:latin typeface="DejaVu Sans"/>
                <a:ea typeface="DejaVu Sans"/>
                <a:cs typeface="DejaVu Sans"/>
              </a:rPr>
              <a:t>relativas. Comparar resultados entre integrantes.</a:t>
            </a:r>
          </a:p>
        </p:txBody>
      </p:sp>
      <p:sp>
        <p:nvSpPr>
          <p:cNvPr id="60" name="node-resultado">
            <a:extLst>
              <a:ext uri="{FF2B5EF4-FFF2-40B4-BE49-F238E27FC236}">
                <a16:creationId xmlns:a16="http://schemas.microsoft.com/office/drawing/2014/main" id="{278CE381-9AE5-4800-BC69-E4A96E0A91CA}"/>
              </a:ext>
            </a:extLst>
          </p:cNvPr>
          <p:cNvSpPr>
            <a:spLocks noGrp="1"/>
          </p:cNvSpPr>
          <p:nvPr/>
        </p:nvSpPr>
        <p:spPr>
          <a:xfrm>
            <a:off x="10477500" y="30289500"/>
            <a:ext cx="7620000" cy="2095500"/>
          </a:xfrm>
          <a:prstGeom prst="roundRect">
            <a:avLst>
              <a:gd name="adj" fmla="val 5455"/>
            </a:avLst>
          </a:prstGeom>
          <a:solidFill>
            <a:srgbClr val="153851"/>
          </a:solidFill>
          <a:ln w="22860">
            <a:solidFill>
              <a:srgbClr val="15385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1" name="resultado-title-0">
            <a:extLst>
              <a:ext uri="{FF2B5EF4-FFF2-40B4-BE49-F238E27FC236}">
                <a16:creationId xmlns:a16="http://schemas.microsoft.com/office/drawing/2014/main" id="{A6153A5D-338A-4E54-9DCF-21F300BEF1A1}"/>
              </a:ext>
            </a:extLst>
          </p:cNvPr>
          <p:cNvSpPr>
            <a:spLocks noGrp="1"/>
          </p:cNvSpPr>
          <p:nvPr/>
        </p:nvSpPr>
        <p:spPr>
          <a:xfrm>
            <a:off x="10706100" y="3042285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62" name="resultado-body-0">
            <a:extLst>
              <a:ext uri="{FF2B5EF4-FFF2-40B4-BE49-F238E27FC236}">
                <a16:creationId xmlns:a16="http://schemas.microsoft.com/office/drawing/2014/main" id="{02003866-2BE4-4C91-AE00-2248D167AF0B}"/>
              </a:ext>
            </a:extLst>
          </p:cNvPr>
          <p:cNvSpPr>
            <a:spLocks noGrp="1"/>
          </p:cNvSpPr>
          <p:nvPr/>
        </p:nvSpPr>
        <p:spPr>
          <a:xfrm>
            <a:off x="10706100" y="30823853"/>
            <a:ext cx="7162800" cy="34137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Reproducibilidad: mismos datos, código y entorno</a:t>
            </a:r>
          </a:p>
        </p:txBody>
      </p:sp>
      <p:sp>
        <p:nvSpPr>
          <p:cNvPr id="63" name="resultado-body-1">
            <a:extLst>
              <a:ext uri="{FF2B5EF4-FFF2-40B4-BE49-F238E27FC236}">
                <a16:creationId xmlns:a16="http://schemas.microsoft.com/office/drawing/2014/main" id="{68922D19-E3E0-46B9-A1E3-921D4277B0FF}"/>
              </a:ext>
            </a:extLst>
          </p:cNvPr>
          <p:cNvSpPr>
            <a:spLocks noGrp="1"/>
          </p:cNvSpPr>
          <p:nvPr/>
        </p:nvSpPr>
        <p:spPr>
          <a:xfrm>
            <a:off x="10706100" y="31127891"/>
            <a:ext cx="7162800" cy="34137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producen resultados consistentes.</a:t>
            </a:r>
          </a:p>
        </p:txBody>
      </p:sp>
      <p:sp>
        <p:nvSpPr>
          <p:cNvPr id="64" name="resultado-body-2">
            <a:extLst>
              <a:ext uri="{FF2B5EF4-FFF2-40B4-BE49-F238E27FC236}">
                <a16:creationId xmlns:a16="http://schemas.microsoft.com/office/drawing/2014/main" id="{A766BA4A-B5CD-4894-AEC1-F29017170A0D}"/>
              </a:ext>
            </a:extLst>
          </p:cNvPr>
          <p:cNvSpPr>
            <a:spLocks noGrp="1"/>
          </p:cNvSpPr>
          <p:nvPr/>
        </p:nvSpPr>
        <p:spPr>
          <a:xfrm>
            <a:off x="10706100" y="31431929"/>
            <a:ext cx="7162800" cy="34137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Trazabilidad: el registro permite conocer quién</a:t>
            </a:r>
          </a:p>
        </p:txBody>
      </p:sp>
      <p:sp>
        <p:nvSpPr>
          <p:cNvPr id="65" name="resultado-body-3">
            <a:extLst>
              <a:ext uri="{FF2B5EF4-FFF2-40B4-BE49-F238E27FC236}">
                <a16:creationId xmlns:a16="http://schemas.microsoft.com/office/drawing/2014/main" id="{859A4C14-9562-42FB-988E-8D3FED23EE33}"/>
              </a:ext>
            </a:extLst>
          </p:cNvPr>
          <p:cNvSpPr>
            <a:spLocks noGrp="1"/>
          </p:cNvSpPr>
          <p:nvPr/>
        </p:nvSpPr>
        <p:spPr>
          <a:xfrm>
            <a:off x="10706100" y="31735966"/>
            <a:ext cx="7162800" cy="34137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cambió qué, cuándo y por qué.</a:t>
            </a:r>
          </a:p>
        </p:txBody>
      </p:sp>
      <p:sp>
        <p:nvSpPr>
          <p:cNvPr id="66" name="node-entorno">
            <a:extLst>
              <a:ext uri="{FF2B5EF4-FFF2-40B4-BE49-F238E27FC236}">
                <a16:creationId xmlns:a16="http://schemas.microsoft.com/office/drawing/2014/main" id="{BCB021DF-93EA-4330-9D51-D901F13AF57E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7620000" cy="1619250"/>
          </a:xfrm>
          <a:prstGeom prst="roundRect">
            <a:avLst>
              <a:gd name="adj" fmla="val 7059"/>
            </a:avLst>
          </a:prstGeom>
          <a:solidFill>
            <a:srgbClr val="E9F7FA"/>
          </a:solidFill>
          <a:ln w="22860">
            <a:solidFill>
              <a:srgbClr val="35818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7" name="entorno-title-0">
            <a:extLst>
              <a:ext uri="{FF2B5EF4-FFF2-40B4-BE49-F238E27FC236}">
                <a16:creationId xmlns:a16="http://schemas.microsoft.com/office/drawing/2014/main" id="{655783EF-C61D-40D4-993A-639EEFE9B983}"/>
              </a:ext>
            </a:extLst>
          </p:cNvPr>
          <p:cNvSpPr>
            <a:spLocks noGrp="1"/>
          </p:cNvSpPr>
          <p:nvPr/>
        </p:nvSpPr>
        <p:spPr>
          <a:xfrm>
            <a:off x="1181100" y="251460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ENTORNO REPRODUCIBLE</a:t>
            </a:r>
          </a:p>
        </p:txBody>
      </p:sp>
      <p:sp>
        <p:nvSpPr>
          <p:cNvPr id="68" name="entorno-body-0">
            <a:extLst>
              <a:ext uri="{FF2B5EF4-FFF2-40B4-BE49-F238E27FC236}">
                <a16:creationId xmlns:a16="http://schemas.microsoft.com/office/drawing/2014/main" id="{D2814F76-1641-4F7E-9519-66E81BA7E4DB}"/>
              </a:ext>
            </a:extLst>
          </p:cNvPr>
          <p:cNvSpPr>
            <a:spLocks noGrp="1"/>
          </p:cNvSpPr>
          <p:nvPr/>
        </p:nvSpPr>
        <p:spPr>
          <a:xfrm>
            <a:off x="1181100" y="291560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Entorno virtual .venv/</a:t>
            </a:r>
          </a:p>
        </p:txBody>
      </p:sp>
      <p:sp>
        <p:nvSpPr>
          <p:cNvPr id="69" name="entorno-body-1">
            <a:extLst>
              <a:ext uri="{FF2B5EF4-FFF2-40B4-BE49-F238E27FC236}">
                <a16:creationId xmlns:a16="http://schemas.microsoft.com/office/drawing/2014/main" id="{EBA36856-4B90-428F-9CCE-BF68109AEA11}"/>
              </a:ext>
            </a:extLst>
          </p:cNvPr>
          <p:cNvSpPr>
            <a:spLocks noGrp="1"/>
          </p:cNvSpPr>
          <p:nvPr/>
        </p:nvSpPr>
        <p:spPr>
          <a:xfrm>
            <a:off x="1181100" y="320878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requirements.txt con versiones probadas</a:t>
            </a:r>
          </a:p>
        </p:txBody>
      </p:sp>
      <p:sp>
        <p:nvSpPr>
          <p:cNvPr id="70" name="entorno-body-2">
            <a:extLst>
              <a:ext uri="{FF2B5EF4-FFF2-40B4-BE49-F238E27FC236}">
                <a16:creationId xmlns:a16="http://schemas.microsoft.com/office/drawing/2014/main" id="{4E76DE64-0FC0-456C-83BE-51205C86801F}"/>
              </a:ext>
            </a:extLst>
          </p:cNvPr>
          <p:cNvSpPr>
            <a:spLocks noGrp="1"/>
          </p:cNvSpPr>
          <p:nvPr/>
        </p:nvSpPr>
        <p:spPr>
          <a:xfrm>
            <a:off x="1181100" y="350196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Versión de Python declarada en README</a:t>
            </a:r>
          </a:p>
        </p:txBody>
      </p:sp>
      <p:sp>
        <p:nvSpPr>
          <p:cNvPr id="71" name="node-preguntas">
            <a:extLst>
              <a:ext uri="{FF2B5EF4-FFF2-40B4-BE49-F238E27FC236}">
                <a16:creationId xmlns:a16="http://schemas.microsoft.com/office/drawing/2014/main" id="{8E249830-AF52-44DB-89AA-B4F992A8F49B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7620000" cy="1905000"/>
          </a:xfrm>
          <a:prstGeom prst="roundRect">
            <a:avLst>
              <a:gd name="adj" fmla="val 6000"/>
            </a:avLst>
          </a:prstGeom>
          <a:solidFill>
            <a:srgbClr val="FFF4E7"/>
          </a:solidFill>
          <a:ln w="22860">
            <a:solidFill>
              <a:srgbClr val="BC82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2" name="preguntas-title-0">
            <a:extLst>
              <a:ext uri="{FF2B5EF4-FFF2-40B4-BE49-F238E27FC236}">
                <a16:creationId xmlns:a16="http://schemas.microsoft.com/office/drawing/2014/main" id="{315A4A15-3EBC-419D-B445-921AEBE3362C}"/>
              </a:ext>
            </a:extLst>
          </p:cNvPr>
          <p:cNvSpPr>
            <a:spLocks noGrp="1"/>
          </p:cNvSpPr>
          <p:nvPr/>
        </p:nvSpPr>
        <p:spPr>
          <a:xfrm>
            <a:off x="1181100" y="499110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PREGUNTAS DE ANÁLISIS</a:t>
            </a:r>
          </a:p>
        </p:txBody>
      </p:sp>
      <p:sp>
        <p:nvSpPr>
          <p:cNvPr id="73" name="preguntas-body-0">
            <a:extLst>
              <a:ext uri="{FF2B5EF4-FFF2-40B4-BE49-F238E27FC236}">
                <a16:creationId xmlns:a16="http://schemas.microsoft.com/office/drawing/2014/main" id="{FCEE6C58-9F35-455E-A1DB-E1BE41958763}"/>
              </a:ext>
            </a:extLst>
          </p:cNvPr>
          <p:cNvSpPr>
            <a:spLocks noGrp="1"/>
          </p:cNvSpPr>
          <p:nvPr/>
        </p:nvSpPr>
        <p:spPr>
          <a:xfrm>
            <a:off x="1181100" y="539210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¿Cuánto se compra? Montos por orden.</a:t>
            </a:r>
          </a:p>
        </p:txBody>
      </p:sp>
      <p:sp>
        <p:nvSpPr>
          <p:cNvPr id="74" name="preguntas-body-1">
            <a:extLst>
              <a:ext uri="{FF2B5EF4-FFF2-40B4-BE49-F238E27FC236}">
                <a16:creationId xmlns:a16="http://schemas.microsoft.com/office/drawing/2014/main" id="{35213557-3308-4804-933F-A7854E3D0CBB}"/>
              </a:ext>
            </a:extLst>
          </p:cNvPr>
          <p:cNvSpPr>
            <a:spLocks noGrp="1"/>
          </p:cNvSpPr>
          <p:nvPr/>
        </p:nvSpPr>
        <p:spPr>
          <a:xfrm>
            <a:off x="1181100" y="568528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¿A quién? Participación por proveedor.</a:t>
            </a:r>
          </a:p>
        </p:txBody>
      </p:sp>
      <p:sp>
        <p:nvSpPr>
          <p:cNvPr id="75" name="preguntas-body-2">
            <a:extLst>
              <a:ext uri="{FF2B5EF4-FFF2-40B4-BE49-F238E27FC236}">
                <a16:creationId xmlns:a16="http://schemas.microsoft.com/office/drawing/2014/main" id="{AF1A2313-B30B-4B24-958E-5420BDAB46F9}"/>
              </a:ext>
            </a:extLst>
          </p:cNvPr>
          <p:cNvSpPr>
            <a:spLocks noGrp="1"/>
          </p:cNvSpPr>
          <p:nvPr/>
        </p:nvSpPr>
        <p:spPr>
          <a:xfrm>
            <a:off x="1181100" y="597846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¿En qué? Rubros del detalle validado.</a:t>
            </a:r>
          </a:p>
        </p:txBody>
      </p:sp>
      <p:sp>
        <p:nvSpPr>
          <p:cNvPr id="76" name="preguntas-body-3">
            <a:extLst>
              <a:ext uri="{FF2B5EF4-FFF2-40B4-BE49-F238E27FC236}">
                <a16:creationId xmlns:a16="http://schemas.microsoft.com/office/drawing/2014/main" id="{76D3B451-5A88-4A9C-B6D7-E0D0ED9A7AA6}"/>
              </a:ext>
            </a:extLst>
          </p:cNvPr>
          <p:cNvSpPr>
            <a:spLocks noGrp="1"/>
          </p:cNvSpPr>
          <p:nvPr/>
        </p:nvSpPr>
        <p:spPr>
          <a:xfrm>
            <a:off x="1181100" y="627164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¿Cuándo? Distribución mensual.</a:t>
            </a:r>
          </a:p>
        </p:txBody>
      </p:sp>
      <p:sp>
        <p:nvSpPr>
          <p:cNvPr id="77" name="node-fuente">
            <a:extLst>
              <a:ext uri="{FF2B5EF4-FFF2-40B4-BE49-F238E27FC236}">
                <a16:creationId xmlns:a16="http://schemas.microsoft.com/office/drawing/2014/main" id="{A48499B2-EA22-4285-8135-F78A9BF0EC41}"/>
              </a:ext>
            </a:extLst>
          </p:cNvPr>
          <p:cNvSpPr>
            <a:spLocks noGrp="1"/>
          </p:cNvSpPr>
          <p:nvPr/>
        </p:nvSpPr>
        <p:spPr>
          <a:xfrm>
            <a:off x="952500" y="7620000"/>
            <a:ext cx="7620000" cy="2000250"/>
          </a:xfrm>
          <a:prstGeom prst="roundRect">
            <a:avLst>
              <a:gd name="adj" fmla="val 5714"/>
            </a:avLst>
          </a:prstGeom>
          <a:solidFill>
            <a:srgbClr val="EBF6EF"/>
          </a:solidFill>
          <a:ln w="22860">
            <a:solidFill>
              <a:srgbClr val="4280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8" name="fuente-title-0">
            <a:extLst>
              <a:ext uri="{FF2B5EF4-FFF2-40B4-BE49-F238E27FC236}">
                <a16:creationId xmlns:a16="http://schemas.microsoft.com/office/drawing/2014/main" id="{2942371F-DEC8-4A1C-9907-731BA4D23F3A}"/>
              </a:ext>
            </a:extLst>
          </p:cNvPr>
          <p:cNvSpPr>
            <a:spLocks noGrp="1"/>
          </p:cNvSpPr>
          <p:nvPr/>
        </p:nvSpPr>
        <p:spPr>
          <a:xfrm>
            <a:off x="1181100" y="775335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FUENTE Y ALCANCE</a:t>
            </a:r>
          </a:p>
        </p:txBody>
      </p:sp>
      <p:sp>
        <p:nvSpPr>
          <p:cNvPr id="79" name="fuente-body-0">
            <a:extLst>
              <a:ext uri="{FF2B5EF4-FFF2-40B4-BE49-F238E27FC236}">
                <a16:creationId xmlns:a16="http://schemas.microsoft.com/office/drawing/2014/main" id="{E1DD0469-D312-4D4B-9C57-9C8A8B3896FE}"/>
              </a:ext>
            </a:extLst>
          </p:cNvPr>
          <p:cNvSpPr>
            <a:spLocks noGrp="1"/>
          </p:cNvSpPr>
          <p:nvPr/>
        </p:nvSpPr>
        <p:spPr>
          <a:xfrm>
            <a:off x="1181100" y="8154353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Fuente declarada: ChileCompra / Mercado Público.</a:t>
            </a:r>
          </a:p>
        </p:txBody>
      </p:sp>
      <p:sp>
        <p:nvSpPr>
          <p:cNvPr id="80" name="fuente-body-1">
            <a:extLst>
              <a:ext uri="{FF2B5EF4-FFF2-40B4-BE49-F238E27FC236}">
                <a16:creationId xmlns:a16="http://schemas.microsoft.com/office/drawing/2014/main" id="{2154C43B-9D29-44F4-987E-BC4AB1C6DB75}"/>
              </a:ext>
            </a:extLst>
          </p:cNvPr>
          <p:cNvSpPr>
            <a:spLocks noGrp="1"/>
          </p:cNvSpPr>
          <p:nvPr/>
        </p:nvSpPr>
        <p:spPr>
          <a:xfrm>
            <a:off x="1181100" y="8436674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Archivo 187402OCCompraAgil(1).csv.</a:t>
            </a:r>
          </a:p>
        </p:txBody>
      </p:sp>
      <p:sp>
        <p:nvSpPr>
          <p:cNvPr id="81" name="fuente-body-2">
            <a:extLst>
              <a:ext uri="{FF2B5EF4-FFF2-40B4-BE49-F238E27FC236}">
                <a16:creationId xmlns:a16="http://schemas.microsoft.com/office/drawing/2014/main" id="{9A553A0F-ACA6-4DEB-B4CE-B2132E426BAA}"/>
              </a:ext>
            </a:extLst>
          </p:cNvPr>
          <p:cNvSpPr>
            <a:spLocks noGrp="1"/>
          </p:cNvSpPr>
          <p:nvPr/>
        </p:nvSpPr>
        <p:spPr>
          <a:xfrm>
            <a:off x="1181100" y="8718995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Periodo: enero a junio de 2025.</a:t>
            </a:r>
          </a:p>
        </p:txBody>
      </p:sp>
      <p:sp>
        <p:nvSpPr>
          <p:cNvPr id="82" name="fuente-body-3">
            <a:extLst>
              <a:ext uri="{FF2B5EF4-FFF2-40B4-BE49-F238E27FC236}">
                <a16:creationId xmlns:a16="http://schemas.microsoft.com/office/drawing/2014/main" id="{90275100-0720-43F5-BD14-8A75C738F902}"/>
              </a:ext>
            </a:extLst>
          </p:cNvPr>
          <p:cNvSpPr>
            <a:spLocks noGrp="1"/>
          </p:cNvSpPr>
          <p:nvPr/>
        </p:nvSpPr>
        <p:spPr>
          <a:xfrm>
            <a:off x="1181100" y="9001316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Fechas observadas: 06/01 al 30/06/2025.</a:t>
            </a:r>
          </a:p>
        </p:txBody>
      </p:sp>
      <p:sp>
        <p:nvSpPr>
          <p:cNvPr id="83" name="node-python">
            <a:extLst>
              <a:ext uri="{FF2B5EF4-FFF2-40B4-BE49-F238E27FC236}">
                <a16:creationId xmlns:a16="http://schemas.microsoft.com/office/drawing/2014/main" id="{66C358D4-63D2-4300-A5BF-641A942116C5}"/>
              </a:ext>
            </a:extLst>
          </p:cNvPr>
          <p:cNvSpPr>
            <a:spLocks noGrp="1"/>
          </p:cNvSpPr>
          <p:nvPr/>
        </p:nvSpPr>
        <p:spPr>
          <a:xfrm>
            <a:off x="952500" y="10477500"/>
            <a:ext cx="7620000" cy="1714500"/>
          </a:xfrm>
          <a:prstGeom prst="roundRect">
            <a:avLst>
              <a:gd name="adj" fmla="val 6667"/>
            </a:avLst>
          </a:prstGeom>
          <a:solidFill>
            <a:srgbClr val="E9F7FA"/>
          </a:solidFill>
          <a:ln w="22860">
            <a:solidFill>
              <a:srgbClr val="35818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4" name="python-title-0">
            <a:extLst>
              <a:ext uri="{FF2B5EF4-FFF2-40B4-BE49-F238E27FC236}">
                <a16:creationId xmlns:a16="http://schemas.microsoft.com/office/drawing/2014/main" id="{F008C970-CF35-482A-B511-430E2592A869}"/>
              </a:ext>
            </a:extLst>
          </p:cNvPr>
          <p:cNvSpPr>
            <a:spLocks noGrp="1"/>
          </p:cNvSpPr>
          <p:nvPr/>
        </p:nvSpPr>
        <p:spPr>
          <a:xfrm>
            <a:off x="1181100" y="1061085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PYTHON Y PANDAS</a:t>
            </a:r>
          </a:p>
        </p:txBody>
      </p:sp>
      <p:sp>
        <p:nvSpPr>
          <p:cNvPr id="85" name="python-body-0">
            <a:extLst>
              <a:ext uri="{FF2B5EF4-FFF2-40B4-BE49-F238E27FC236}">
                <a16:creationId xmlns:a16="http://schemas.microsoft.com/office/drawing/2014/main" id="{1657E67E-1ABE-448C-9A7B-7D87F2E8B3DA}"/>
              </a:ext>
            </a:extLst>
          </p:cNvPr>
          <p:cNvSpPr>
            <a:spLocks noGrp="1"/>
          </p:cNvSpPr>
          <p:nvPr/>
        </p:nvSpPr>
        <p:spPr>
          <a:xfrm>
            <a:off x="1181100" y="11011853"/>
            <a:ext cx="7162800" cy="34137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Cargan y transforman la base de 63 variables.</a:t>
            </a:r>
          </a:p>
        </p:txBody>
      </p:sp>
      <p:sp>
        <p:nvSpPr>
          <p:cNvPr id="86" name="python-body-1">
            <a:extLst>
              <a:ext uri="{FF2B5EF4-FFF2-40B4-BE49-F238E27FC236}">
                <a16:creationId xmlns:a16="http://schemas.microsoft.com/office/drawing/2014/main" id="{3B17E8DE-E61B-4436-88F7-95CC4A725397}"/>
              </a:ext>
            </a:extLst>
          </p:cNvPr>
          <p:cNvSpPr>
            <a:spLocks noGrp="1"/>
          </p:cNvSpPr>
          <p:nvPr/>
        </p:nvSpPr>
        <p:spPr>
          <a:xfrm>
            <a:off x="1181100" y="11315891"/>
            <a:ext cx="7162800" cy="34137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Permiten seleccionar columnas, agrupar y validar</a:t>
            </a:r>
          </a:p>
        </p:txBody>
      </p:sp>
      <p:sp>
        <p:nvSpPr>
          <p:cNvPr id="87" name="python-body-2">
            <a:extLst>
              <a:ext uri="{FF2B5EF4-FFF2-40B4-BE49-F238E27FC236}">
                <a16:creationId xmlns:a16="http://schemas.microsoft.com/office/drawing/2014/main" id="{EA446CE1-158C-4BE4-99B4-4E2BC523D277}"/>
              </a:ext>
            </a:extLst>
          </p:cNvPr>
          <p:cNvSpPr>
            <a:spLocks noGrp="1"/>
          </p:cNvSpPr>
          <p:nvPr/>
        </p:nvSpPr>
        <p:spPr>
          <a:xfrm>
            <a:off x="1181100" y="11619928"/>
            <a:ext cx="7162800" cy="34137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mediante reglas ejecutables.</a:t>
            </a:r>
          </a:p>
        </p:txBody>
      </p:sp>
      <p:sp>
        <p:nvSpPr>
          <p:cNvPr id="88" name="node-jupyter">
            <a:extLst>
              <a:ext uri="{FF2B5EF4-FFF2-40B4-BE49-F238E27FC236}">
                <a16:creationId xmlns:a16="http://schemas.microsoft.com/office/drawing/2014/main" id="{E5359B10-22B5-49EE-8B2F-F50FFF5BE1E4}"/>
              </a:ext>
            </a:extLst>
          </p:cNvPr>
          <p:cNvSpPr>
            <a:spLocks noGrp="1"/>
          </p:cNvSpPr>
          <p:nvPr/>
        </p:nvSpPr>
        <p:spPr>
          <a:xfrm>
            <a:off x="952500" y="13049250"/>
            <a:ext cx="7620000" cy="2000250"/>
          </a:xfrm>
          <a:prstGeom prst="roundRect">
            <a:avLst>
              <a:gd name="adj" fmla="val 5714"/>
            </a:avLst>
          </a:prstGeom>
          <a:solidFill>
            <a:srgbClr val="E9F7FA"/>
          </a:solidFill>
          <a:ln w="22860">
            <a:solidFill>
              <a:srgbClr val="35818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9" name="jupyter-title-0">
            <a:extLst>
              <a:ext uri="{FF2B5EF4-FFF2-40B4-BE49-F238E27FC236}">
                <a16:creationId xmlns:a16="http://schemas.microsoft.com/office/drawing/2014/main" id="{AB3AC80B-2C01-4B46-9245-3192FF48C427}"/>
              </a:ext>
            </a:extLst>
          </p:cNvPr>
          <p:cNvSpPr>
            <a:spLocks noGrp="1"/>
          </p:cNvSpPr>
          <p:nvPr/>
        </p:nvSpPr>
        <p:spPr>
          <a:xfrm>
            <a:off x="1181100" y="1318260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JUPYTER NOTEBOOK</a:t>
            </a:r>
          </a:p>
        </p:txBody>
      </p:sp>
      <p:sp>
        <p:nvSpPr>
          <p:cNvPr id="90" name="jupyter-body-0">
            <a:extLst>
              <a:ext uri="{FF2B5EF4-FFF2-40B4-BE49-F238E27FC236}">
                <a16:creationId xmlns:a16="http://schemas.microsoft.com/office/drawing/2014/main" id="{BA57EE6D-427C-414A-9273-2EEF081A515C}"/>
              </a:ext>
            </a:extLst>
          </p:cNvPr>
          <p:cNvSpPr>
            <a:spLocks noGrp="1"/>
          </p:cNvSpPr>
          <p:nvPr/>
        </p:nvSpPr>
        <p:spPr>
          <a:xfrm>
            <a:off x="1181100" y="1358360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Código: transforma y calcula.</a:t>
            </a:r>
          </a:p>
        </p:txBody>
      </p:sp>
      <p:sp>
        <p:nvSpPr>
          <p:cNvPr id="91" name="jupyter-body-1">
            <a:extLst>
              <a:ext uri="{FF2B5EF4-FFF2-40B4-BE49-F238E27FC236}">
                <a16:creationId xmlns:a16="http://schemas.microsoft.com/office/drawing/2014/main" id="{62494BFF-9FB1-474A-BF62-D4A8264420E1}"/>
              </a:ext>
            </a:extLst>
          </p:cNvPr>
          <p:cNvSpPr>
            <a:spLocks noGrp="1"/>
          </p:cNvSpPr>
          <p:nvPr/>
        </p:nvSpPr>
        <p:spPr>
          <a:xfrm>
            <a:off x="1181100" y="1387678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Markdown: justifica e interpreta.</a:t>
            </a:r>
          </a:p>
        </p:txBody>
      </p:sp>
      <p:sp>
        <p:nvSpPr>
          <p:cNvPr id="92" name="jupyter-body-2">
            <a:extLst>
              <a:ext uri="{FF2B5EF4-FFF2-40B4-BE49-F238E27FC236}">
                <a16:creationId xmlns:a16="http://schemas.microsoft.com/office/drawing/2014/main" id="{90A4B3BD-D898-4836-810A-78DD62234931}"/>
              </a:ext>
            </a:extLst>
          </p:cNvPr>
          <p:cNvSpPr>
            <a:spLocks noGrp="1"/>
          </p:cNvSpPr>
          <p:nvPr/>
        </p:nvSpPr>
        <p:spPr>
          <a:xfrm>
            <a:off x="1181100" y="1416996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Tablas y gráficos muestran evidencia.</a:t>
            </a:r>
          </a:p>
        </p:txBody>
      </p:sp>
      <p:sp>
        <p:nvSpPr>
          <p:cNvPr id="93" name="jupyter-body-3">
            <a:extLst>
              <a:ext uri="{FF2B5EF4-FFF2-40B4-BE49-F238E27FC236}">
                <a16:creationId xmlns:a16="http://schemas.microsoft.com/office/drawing/2014/main" id="{CAF2A2E1-A06E-4915-9421-884641504371}"/>
              </a:ext>
            </a:extLst>
          </p:cNvPr>
          <p:cNvSpPr>
            <a:spLocks noGrp="1"/>
          </p:cNvSpPr>
          <p:nvPr/>
        </p:nvSpPr>
        <p:spPr>
          <a:xfrm>
            <a:off x="1181100" y="1446314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Documenta cada etapa en notebooks.</a:t>
            </a:r>
          </a:p>
        </p:txBody>
      </p:sp>
      <p:sp>
        <p:nvSpPr>
          <p:cNvPr id="94" name="node-git">
            <a:extLst>
              <a:ext uri="{FF2B5EF4-FFF2-40B4-BE49-F238E27FC236}">
                <a16:creationId xmlns:a16="http://schemas.microsoft.com/office/drawing/2014/main" id="{3E59EBCC-57F0-440D-A903-48265BC9AA12}"/>
              </a:ext>
            </a:extLst>
          </p:cNvPr>
          <p:cNvSpPr>
            <a:spLocks noGrp="1"/>
          </p:cNvSpPr>
          <p:nvPr/>
        </p:nvSpPr>
        <p:spPr>
          <a:xfrm>
            <a:off x="952500" y="15906750"/>
            <a:ext cx="7620000" cy="2190750"/>
          </a:xfrm>
          <a:prstGeom prst="roundRect">
            <a:avLst>
              <a:gd name="adj" fmla="val 5217"/>
            </a:avLst>
          </a:prstGeom>
          <a:solidFill>
            <a:srgbClr val="E9F7FA"/>
          </a:solidFill>
          <a:ln w="22860">
            <a:solidFill>
              <a:srgbClr val="35818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5" name="git-title-0">
            <a:extLst>
              <a:ext uri="{FF2B5EF4-FFF2-40B4-BE49-F238E27FC236}">
                <a16:creationId xmlns:a16="http://schemas.microsoft.com/office/drawing/2014/main" id="{C2C48C2C-AEAA-46A8-9E6B-B1A8B4E68151}"/>
              </a:ext>
            </a:extLst>
          </p:cNvPr>
          <p:cNvSpPr>
            <a:spLocks noGrp="1"/>
          </p:cNvSpPr>
          <p:nvPr/>
        </p:nvSpPr>
        <p:spPr>
          <a:xfrm>
            <a:off x="1181100" y="1604010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GIT</a:t>
            </a:r>
          </a:p>
        </p:txBody>
      </p:sp>
      <p:sp>
        <p:nvSpPr>
          <p:cNvPr id="96" name="git-body-0">
            <a:extLst>
              <a:ext uri="{FF2B5EF4-FFF2-40B4-BE49-F238E27FC236}">
                <a16:creationId xmlns:a16="http://schemas.microsoft.com/office/drawing/2014/main" id="{5E04AB42-DB26-41C3-B190-5DD3EB5DAC9D}"/>
              </a:ext>
            </a:extLst>
          </p:cNvPr>
          <p:cNvSpPr>
            <a:spLocks noGrp="1"/>
          </p:cNvSpPr>
          <p:nvPr/>
        </p:nvSpPr>
        <p:spPr>
          <a:xfrm>
            <a:off x="1181100" y="1644110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Versiona localmente scripts, notebooks,</a:t>
            </a:r>
          </a:p>
        </p:txBody>
      </p:sp>
      <p:sp>
        <p:nvSpPr>
          <p:cNvPr id="97" name="git-body-1">
            <a:extLst>
              <a:ext uri="{FF2B5EF4-FFF2-40B4-BE49-F238E27FC236}">
                <a16:creationId xmlns:a16="http://schemas.microsoft.com/office/drawing/2014/main" id="{84355D45-1983-4C88-969D-7EF531219523}"/>
              </a:ext>
            </a:extLst>
          </p:cNvPr>
          <p:cNvSpPr>
            <a:spLocks noGrp="1"/>
          </p:cNvSpPr>
          <p:nvPr/>
        </p:nvSpPr>
        <p:spPr>
          <a:xfrm>
            <a:off x="1181100" y="1673428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documentación y dependencias.</a:t>
            </a:r>
          </a:p>
        </p:txBody>
      </p:sp>
      <p:sp>
        <p:nvSpPr>
          <p:cNvPr id="98" name="git-body-2">
            <a:extLst>
              <a:ext uri="{FF2B5EF4-FFF2-40B4-BE49-F238E27FC236}">
                <a16:creationId xmlns:a16="http://schemas.microsoft.com/office/drawing/2014/main" id="{133EB416-F73D-4B46-84BA-C6584A3CD95C}"/>
              </a:ext>
            </a:extLst>
          </p:cNvPr>
          <p:cNvSpPr>
            <a:spLocks noGrp="1"/>
          </p:cNvSpPr>
          <p:nvPr/>
        </p:nvSpPr>
        <p:spPr>
          <a:xfrm>
            <a:off x="1181100" y="1702746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Cada commit registra un cambio significativo y su</a:t>
            </a:r>
          </a:p>
        </p:txBody>
      </p:sp>
      <p:sp>
        <p:nvSpPr>
          <p:cNvPr id="99" name="git-body-3">
            <a:extLst>
              <a:ext uri="{FF2B5EF4-FFF2-40B4-BE49-F238E27FC236}">
                <a16:creationId xmlns:a16="http://schemas.microsoft.com/office/drawing/2014/main" id="{C856DCE7-8DD5-4F8A-A89E-98E89C206106}"/>
              </a:ext>
            </a:extLst>
          </p:cNvPr>
          <p:cNvSpPr>
            <a:spLocks noGrp="1"/>
          </p:cNvSpPr>
          <p:nvPr/>
        </p:nvSpPr>
        <p:spPr>
          <a:xfrm>
            <a:off x="1181100" y="1732064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autor.</a:t>
            </a:r>
          </a:p>
        </p:txBody>
      </p:sp>
      <p:sp>
        <p:nvSpPr>
          <p:cNvPr id="100" name="git-body-4">
            <a:extLst>
              <a:ext uri="{FF2B5EF4-FFF2-40B4-BE49-F238E27FC236}">
                <a16:creationId xmlns:a16="http://schemas.microsoft.com/office/drawing/2014/main" id="{5AB4C91C-AE3C-486F-8FDF-7597C925B98D}"/>
              </a:ext>
            </a:extLst>
          </p:cNvPr>
          <p:cNvSpPr>
            <a:spLocks noGrp="1"/>
          </p:cNvSpPr>
          <p:nvPr/>
        </p:nvSpPr>
        <p:spPr>
          <a:xfrm>
            <a:off x="1181100" y="17613820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Los motivos técnicos quedan en la bitácora.</a:t>
            </a:r>
          </a:p>
        </p:txBody>
      </p:sp>
      <p:sp>
        <p:nvSpPr>
          <p:cNvPr id="101" name="node-github">
            <a:extLst>
              <a:ext uri="{FF2B5EF4-FFF2-40B4-BE49-F238E27FC236}">
                <a16:creationId xmlns:a16="http://schemas.microsoft.com/office/drawing/2014/main" id="{CFF9A321-2028-49BC-85FD-CA60E32BBE04}"/>
              </a:ext>
            </a:extLst>
          </p:cNvPr>
          <p:cNvSpPr>
            <a:spLocks noGrp="1"/>
          </p:cNvSpPr>
          <p:nvPr/>
        </p:nvSpPr>
        <p:spPr>
          <a:xfrm>
            <a:off x="952500" y="18954750"/>
            <a:ext cx="7620000" cy="1905000"/>
          </a:xfrm>
          <a:prstGeom prst="roundRect">
            <a:avLst>
              <a:gd name="adj" fmla="val 6000"/>
            </a:avLst>
          </a:prstGeom>
          <a:solidFill>
            <a:srgbClr val="E9F7FA"/>
          </a:solidFill>
          <a:ln w="22860">
            <a:solidFill>
              <a:srgbClr val="35818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2" name="github-title-0">
            <a:extLst>
              <a:ext uri="{FF2B5EF4-FFF2-40B4-BE49-F238E27FC236}">
                <a16:creationId xmlns:a16="http://schemas.microsoft.com/office/drawing/2014/main" id="{C5BB54FB-F1AA-4DD9-BB80-D07AB99023B1}"/>
              </a:ext>
            </a:extLst>
          </p:cNvPr>
          <p:cNvSpPr>
            <a:spLocks noGrp="1"/>
          </p:cNvSpPr>
          <p:nvPr/>
        </p:nvSpPr>
        <p:spPr>
          <a:xfrm>
            <a:off x="1181100" y="1908810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GITHUB Y COLABORACIÓN</a:t>
            </a:r>
          </a:p>
        </p:txBody>
      </p:sp>
      <p:sp>
        <p:nvSpPr>
          <p:cNvPr id="103" name="github-body-0">
            <a:extLst>
              <a:ext uri="{FF2B5EF4-FFF2-40B4-BE49-F238E27FC236}">
                <a16:creationId xmlns:a16="http://schemas.microsoft.com/office/drawing/2014/main" id="{D01CB7D1-08DF-4E6F-93C2-1C91892230A1}"/>
              </a:ext>
            </a:extLst>
          </p:cNvPr>
          <p:cNvSpPr>
            <a:spLocks noGrp="1"/>
          </p:cNvSpPr>
          <p:nvPr/>
        </p:nvSpPr>
        <p:spPr>
          <a:xfrm>
            <a:off x="1181100" y="1948910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Aloja el remoto y coordina revisiones.</a:t>
            </a:r>
          </a:p>
        </p:txBody>
      </p:sp>
      <p:sp>
        <p:nvSpPr>
          <p:cNvPr id="104" name="github-body-1">
            <a:extLst>
              <a:ext uri="{FF2B5EF4-FFF2-40B4-BE49-F238E27FC236}">
                <a16:creationId xmlns:a16="http://schemas.microsoft.com/office/drawing/2014/main" id="{70E21266-23A0-4094-A22A-F47ACA48F1E5}"/>
              </a:ext>
            </a:extLst>
          </p:cNvPr>
          <p:cNvSpPr>
            <a:spLocks noGrp="1"/>
          </p:cNvSpPr>
          <p:nvPr/>
        </p:nvSpPr>
        <p:spPr>
          <a:xfrm>
            <a:off x="1181100" y="1978228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Plan: verificar que los cuatro puedan hacer push.</a:t>
            </a:r>
          </a:p>
        </p:txBody>
      </p:sp>
      <p:sp>
        <p:nvSpPr>
          <p:cNvPr id="105" name="github-body-2">
            <a:extLst>
              <a:ext uri="{FF2B5EF4-FFF2-40B4-BE49-F238E27FC236}">
                <a16:creationId xmlns:a16="http://schemas.microsoft.com/office/drawing/2014/main" id="{D0095E91-DACA-4FD5-88B1-AC8331F94941}"/>
              </a:ext>
            </a:extLst>
          </p:cNvPr>
          <p:cNvSpPr>
            <a:spLocks noGrp="1"/>
          </p:cNvSpPr>
          <p:nvPr/>
        </p:nvSpPr>
        <p:spPr>
          <a:xfrm>
            <a:off x="1181100" y="2007546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Mantener aportes identificables y distribuidos durante</a:t>
            </a:r>
          </a:p>
        </p:txBody>
      </p:sp>
      <p:sp>
        <p:nvSpPr>
          <p:cNvPr id="106" name="github-body-3">
            <a:extLst>
              <a:ext uri="{FF2B5EF4-FFF2-40B4-BE49-F238E27FC236}">
                <a16:creationId xmlns:a16="http://schemas.microsoft.com/office/drawing/2014/main" id="{981AB2B4-94EA-4C7E-BA78-6FC07C4FE50C}"/>
              </a:ext>
            </a:extLst>
          </p:cNvPr>
          <p:cNvSpPr>
            <a:spLocks noGrp="1"/>
          </p:cNvSpPr>
          <p:nvPr/>
        </p:nvSpPr>
        <p:spPr>
          <a:xfrm>
            <a:off x="1181100" y="2036864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454D"/>
                </a:solidFill>
                <a:latin typeface="DejaVu Sans"/>
                <a:ea typeface="DejaVu Sans"/>
                <a:cs typeface="DejaVu Sans"/>
              </a:rPr>
              <a:t>el trabajo.</a:t>
            </a:r>
          </a:p>
        </p:txBody>
      </p:sp>
      <p:sp>
        <p:nvSpPr>
          <p:cNvPr id="107" name="node-repositorio">
            <a:extLst>
              <a:ext uri="{FF2B5EF4-FFF2-40B4-BE49-F238E27FC236}">
                <a16:creationId xmlns:a16="http://schemas.microsoft.com/office/drawing/2014/main" id="{9329FC37-616E-4091-8D1B-843144CA51C3}"/>
              </a:ext>
            </a:extLst>
          </p:cNvPr>
          <p:cNvSpPr>
            <a:spLocks noGrp="1"/>
          </p:cNvSpPr>
          <p:nvPr/>
        </p:nvSpPr>
        <p:spPr>
          <a:xfrm>
            <a:off x="952500" y="21717000"/>
            <a:ext cx="7620000" cy="4762500"/>
          </a:xfrm>
          <a:prstGeom prst="roundRect">
            <a:avLst>
              <a:gd name="adj" fmla="val 2400"/>
            </a:avLst>
          </a:prstGeom>
          <a:solidFill>
            <a:srgbClr val="F2EEFA"/>
          </a:solidFill>
          <a:ln w="22860">
            <a:solidFill>
              <a:srgbClr val="8670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8" name="repositorio-title-0">
            <a:extLst>
              <a:ext uri="{FF2B5EF4-FFF2-40B4-BE49-F238E27FC236}">
                <a16:creationId xmlns:a16="http://schemas.microsoft.com/office/drawing/2014/main" id="{7DD19CDE-AD8A-4832-A1B6-379CBDD503E1}"/>
              </a:ext>
            </a:extLst>
          </p:cNvPr>
          <p:cNvSpPr>
            <a:spLocks noGrp="1"/>
          </p:cNvSpPr>
          <p:nvPr/>
        </p:nvSpPr>
        <p:spPr>
          <a:xfrm>
            <a:off x="1181100" y="2185035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ESTRUCTURA BASE DEL REPOSITORIO</a:t>
            </a:r>
          </a:p>
        </p:txBody>
      </p:sp>
      <p:sp>
        <p:nvSpPr>
          <p:cNvPr id="109" name="repositorio-body-0">
            <a:extLst>
              <a:ext uri="{FF2B5EF4-FFF2-40B4-BE49-F238E27FC236}">
                <a16:creationId xmlns:a16="http://schemas.microsoft.com/office/drawing/2014/main" id="{56725D7D-7619-4BD5-9598-F999C25921EE}"/>
              </a:ext>
            </a:extLst>
          </p:cNvPr>
          <p:cNvSpPr>
            <a:spLocks noGrp="1"/>
          </p:cNvSpPr>
          <p:nvPr/>
        </p:nvSpPr>
        <p:spPr>
          <a:xfrm>
            <a:off x="1181100" y="22251353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data/raw/ conserva el archivo original.</a:t>
            </a:r>
          </a:p>
        </p:txBody>
      </p:sp>
      <p:sp>
        <p:nvSpPr>
          <p:cNvPr id="110" name="repositorio-body-1">
            <a:extLst>
              <a:ext uri="{FF2B5EF4-FFF2-40B4-BE49-F238E27FC236}">
                <a16:creationId xmlns:a16="http://schemas.microsoft.com/office/drawing/2014/main" id="{46CE550B-7FA1-4316-B34F-A2A086509453}"/>
              </a:ext>
            </a:extLst>
          </p:cNvPr>
          <p:cNvSpPr>
            <a:spLocks noGrp="1"/>
          </p:cNvSpPr>
          <p:nvPr/>
        </p:nvSpPr>
        <p:spPr>
          <a:xfrm>
            <a:off x="1181100" y="22533673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data/processed/ recibe salidas del código.</a:t>
            </a:r>
          </a:p>
        </p:txBody>
      </p:sp>
      <p:sp>
        <p:nvSpPr>
          <p:cNvPr id="111" name="repositorio-body-2">
            <a:extLst>
              <a:ext uri="{FF2B5EF4-FFF2-40B4-BE49-F238E27FC236}">
                <a16:creationId xmlns:a16="http://schemas.microsoft.com/office/drawing/2014/main" id="{3D1ECD7B-04B6-47FC-895E-E992772F8647}"/>
              </a:ext>
            </a:extLst>
          </p:cNvPr>
          <p:cNvSpPr>
            <a:spLocks noGrp="1"/>
          </p:cNvSpPr>
          <p:nvPr/>
        </p:nvSpPr>
        <p:spPr>
          <a:xfrm>
            <a:off x="1181100" y="22815995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notebooks/ ordena el trabajo:</a:t>
            </a:r>
          </a:p>
        </p:txBody>
      </p:sp>
      <p:sp>
        <p:nvSpPr>
          <p:cNvPr id="112" name="repositorio-body-3">
            <a:extLst>
              <a:ext uri="{FF2B5EF4-FFF2-40B4-BE49-F238E27FC236}">
                <a16:creationId xmlns:a16="http://schemas.microsoft.com/office/drawing/2014/main" id="{653B5739-F224-49DC-BDA3-B5F9D95A09AC}"/>
              </a:ext>
            </a:extLst>
          </p:cNvPr>
          <p:cNvSpPr>
            <a:spLocks noGrp="1"/>
          </p:cNvSpPr>
          <p:nvPr/>
        </p:nvSpPr>
        <p:spPr>
          <a:xfrm>
            <a:off x="1181100" y="23098316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01_diagnostico.ipynb</a:t>
            </a:r>
          </a:p>
        </p:txBody>
      </p:sp>
      <p:sp>
        <p:nvSpPr>
          <p:cNvPr id="113" name="repositorio-body-4">
            <a:extLst>
              <a:ext uri="{FF2B5EF4-FFF2-40B4-BE49-F238E27FC236}">
                <a16:creationId xmlns:a16="http://schemas.microsoft.com/office/drawing/2014/main" id="{68FAD651-0107-4C2D-8349-882E55D86347}"/>
              </a:ext>
            </a:extLst>
          </p:cNvPr>
          <p:cNvSpPr>
            <a:spLocks noGrp="1"/>
          </p:cNvSpPr>
          <p:nvPr/>
        </p:nvSpPr>
        <p:spPr>
          <a:xfrm>
            <a:off x="1181100" y="23380637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02_preparacion.ipynb</a:t>
            </a:r>
          </a:p>
        </p:txBody>
      </p:sp>
      <p:sp>
        <p:nvSpPr>
          <p:cNvPr id="114" name="repositorio-body-5">
            <a:extLst>
              <a:ext uri="{FF2B5EF4-FFF2-40B4-BE49-F238E27FC236}">
                <a16:creationId xmlns:a16="http://schemas.microsoft.com/office/drawing/2014/main" id="{3ACF11B0-94E7-4821-A4D5-9506FFA31FB9}"/>
              </a:ext>
            </a:extLst>
          </p:cNvPr>
          <p:cNvSpPr>
            <a:spLocks noGrp="1"/>
          </p:cNvSpPr>
          <p:nvPr/>
        </p:nvSpPr>
        <p:spPr>
          <a:xfrm>
            <a:off x="1181100" y="23662957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03_analisis.ipynb</a:t>
            </a:r>
          </a:p>
        </p:txBody>
      </p:sp>
      <p:sp>
        <p:nvSpPr>
          <p:cNvPr id="115" name="repositorio-body-6">
            <a:extLst>
              <a:ext uri="{FF2B5EF4-FFF2-40B4-BE49-F238E27FC236}">
                <a16:creationId xmlns:a16="http://schemas.microsoft.com/office/drawing/2014/main" id="{F80CAD8F-5C73-44A9-8DAD-AD33428D58E9}"/>
              </a:ext>
            </a:extLst>
          </p:cNvPr>
          <p:cNvSpPr>
            <a:spLocks noGrp="1"/>
          </p:cNvSpPr>
          <p:nvPr/>
        </p:nvSpPr>
        <p:spPr>
          <a:xfrm>
            <a:off x="1181100" y="23945279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src/ conserva funciones reutilizables.</a:t>
            </a:r>
          </a:p>
        </p:txBody>
      </p:sp>
      <p:sp>
        <p:nvSpPr>
          <p:cNvPr id="116" name="repositorio-body-7">
            <a:extLst>
              <a:ext uri="{FF2B5EF4-FFF2-40B4-BE49-F238E27FC236}">
                <a16:creationId xmlns:a16="http://schemas.microsoft.com/office/drawing/2014/main" id="{359A7DCA-DEF4-4F43-96DB-4AB0D06DF117}"/>
              </a:ext>
            </a:extLst>
          </p:cNvPr>
          <p:cNvSpPr>
            <a:spLocks noGrp="1"/>
          </p:cNvSpPr>
          <p:nvPr/>
        </p:nvSpPr>
        <p:spPr>
          <a:xfrm>
            <a:off x="1181100" y="24227600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docs/ contiene mapa, diccionario y bitácora.</a:t>
            </a:r>
          </a:p>
        </p:txBody>
      </p:sp>
      <p:sp>
        <p:nvSpPr>
          <p:cNvPr id="117" name="repositorio-body-8">
            <a:extLst>
              <a:ext uri="{FF2B5EF4-FFF2-40B4-BE49-F238E27FC236}">
                <a16:creationId xmlns:a16="http://schemas.microsoft.com/office/drawing/2014/main" id="{CCBB8CA2-8056-4FDD-9911-8D0F055F3DCC}"/>
              </a:ext>
            </a:extLst>
          </p:cNvPr>
          <p:cNvSpPr>
            <a:spLocks noGrp="1"/>
          </p:cNvSpPr>
          <p:nvPr/>
        </p:nvSpPr>
        <p:spPr>
          <a:xfrm>
            <a:off x="1181100" y="24509920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reports/ contiene informe y figuras.</a:t>
            </a:r>
          </a:p>
        </p:txBody>
      </p:sp>
      <p:sp>
        <p:nvSpPr>
          <p:cNvPr id="118" name="repositorio-body-9">
            <a:extLst>
              <a:ext uri="{FF2B5EF4-FFF2-40B4-BE49-F238E27FC236}">
                <a16:creationId xmlns:a16="http://schemas.microsoft.com/office/drawing/2014/main" id="{4C5FF9AB-3E61-4AF9-8458-901A09C10861}"/>
              </a:ext>
            </a:extLst>
          </p:cNvPr>
          <p:cNvSpPr>
            <a:spLocks noGrp="1"/>
          </p:cNvSpPr>
          <p:nvPr/>
        </p:nvSpPr>
        <p:spPr>
          <a:xfrm>
            <a:off x="1181100" y="24792241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Raíz: README.md, requirements.txt</a:t>
            </a:r>
          </a:p>
        </p:txBody>
      </p:sp>
      <p:sp>
        <p:nvSpPr>
          <p:cNvPr id="119" name="repositorio-body-10">
            <a:extLst>
              <a:ext uri="{FF2B5EF4-FFF2-40B4-BE49-F238E27FC236}">
                <a16:creationId xmlns:a16="http://schemas.microsoft.com/office/drawing/2014/main" id="{95808B4D-DF7F-4983-88F2-363D819565AA}"/>
              </a:ext>
            </a:extLst>
          </p:cNvPr>
          <p:cNvSpPr>
            <a:spLocks noGrp="1"/>
          </p:cNvSpPr>
          <p:nvPr/>
        </p:nvSpPr>
        <p:spPr>
          <a:xfrm>
            <a:off x="1181100" y="25074563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y .gitignore.</a:t>
            </a:r>
          </a:p>
        </p:txBody>
      </p:sp>
      <p:sp>
        <p:nvSpPr>
          <p:cNvPr id="120" name="node-versionamiento">
            <a:extLst>
              <a:ext uri="{FF2B5EF4-FFF2-40B4-BE49-F238E27FC236}">
                <a16:creationId xmlns:a16="http://schemas.microsoft.com/office/drawing/2014/main" id="{43279D47-F227-4372-A2A7-400943539DBB}"/>
              </a:ext>
            </a:extLst>
          </p:cNvPr>
          <p:cNvSpPr>
            <a:spLocks noGrp="1"/>
          </p:cNvSpPr>
          <p:nvPr/>
        </p:nvSpPr>
        <p:spPr>
          <a:xfrm>
            <a:off x="952500" y="27432000"/>
            <a:ext cx="7620000" cy="2000250"/>
          </a:xfrm>
          <a:prstGeom prst="roundRect">
            <a:avLst>
              <a:gd name="adj" fmla="val 5714"/>
            </a:avLst>
          </a:prstGeom>
          <a:solidFill>
            <a:srgbClr val="F2EEFA"/>
          </a:solidFill>
          <a:ln w="22860">
            <a:solidFill>
              <a:srgbClr val="8670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1" name="versionamiento-title-0">
            <a:extLst>
              <a:ext uri="{FF2B5EF4-FFF2-40B4-BE49-F238E27FC236}">
                <a16:creationId xmlns:a16="http://schemas.microsoft.com/office/drawing/2014/main" id="{2EDA83BE-4ECC-4922-A6B8-2A6A9FD1377B}"/>
              </a:ext>
            </a:extLst>
          </p:cNvPr>
          <p:cNvSpPr>
            <a:spLocks noGrp="1"/>
          </p:cNvSpPr>
          <p:nvPr/>
        </p:nvSpPr>
        <p:spPr>
          <a:xfrm>
            <a:off x="1181100" y="2756535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CRITERIOS DE VERSIONAMIENTO</a:t>
            </a:r>
          </a:p>
        </p:txBody>
      </p:sp>
      <p:sp>
        <p:nvSpPr>
          <p:cNvPr id="122" name="versionamiento-body-0">
            <a:extLst>
              <a:ext uri="{FF2B5EF4-FFF2-40B4-BE49-F238E27FC236}">
                <a16:creationId xmlns:a16="http://schemas.microsoft.com/office/drawing/2014/main" id="{0AE39CDA-531E-49E9-A4BD-A190F25CB5DC}"/>
              </a:ext>
            </a:extLst>
          </p:cNvPr>
          <p:cNvSpPr>
            <a:spLocks noGrp="1"/>
          </p:cNvSpPr>
          <p:nvPr/>
        </p:nvSpPr>
        <p:spPr>
          <a:xfrm>
            <a:off x="1181100" y="27966353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Versionar original, código y documentación.</a:t>
            </a:r>
          </a:p>
        </p:txBody>
      </p:sp>
      <p:sp>
        <p:nvSpPr>
          <p:cNvPr id="123" name="versionamiento-body-1">
            <a:extLst>
              <a:ext uri="{FF2B5EF4-FFF2-40B4-BE49-F238E27FC236}">
                <a16:creationId xmlns:a16="http://schemas.microsoft.com/office/drawing/2014/main" id="{017D375C-AC2A-488B-A9B0-6A2F3B768885}"/>
              </a:ext>
            </a:extLst>
          </p:cNvPr>
          <p:cNvSpPr>
            <a:spLocks noGrp="1"/>
          </p:cNvSpPr>
          <p:nvPr/>
        </p:nvSpPr>
        <p:spPr>
          <a:xfrm>
            <a:off x="1181100" y="28248673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Regenerar salidas con código.</a:t>
            </a:r>
          </a:p>
        </p:txBody>
      </p:sp>
      <p:sp>
        <p:nvSpPr>
          <p:cNvPr id="124" name="versionamiento-body-2">
            <a:extLst>
              <a:ext uri="{FF2B5EF4-FFF2-40B4-BE49-F238E27FC236}">
                <a16:creationId xmlns:a16="http://schemas.microsoft.com/office/drawing/2014/main" id="{7FEF494B-72D3-42F6-B622-39A2842A247E}"/>
              </a:ext>
            </a:extLst>
          </p:cNvPr>
          <p:cNvSpPr>
            <a:spLocks noGrp="1"/>
          </p:cNvSpPr>
          <p:nvPr/>
        </p:nvSpPr>
        <p:spPr>
          <a:xfrm>
            <a:off x="1181100" y="28530995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.gitignore excluye .venv/, __pycache__/, checkpoints y</a:t>
            </a:r>
          </a:p>
        </p:txBody>
      </p:sp>
      <p:sp>
        <p:nvSpPr>
          <p:cNvPr id="125" name="versionamiento-body-3">
            <a:extLst>
              <a:ext uri="{FF2B5EF4-FFF2-40B4-BE49-F238E27FC236}">
                <a16:creationId xmlns:a16="http://schemas.microsoft.com/office/drawing/2014/main" id="{44D1A9AB-6AE1-41AD-AD00-DC1C5CE11C22}"/>
              </a:ext>
            </a:extLst>
          </p:cNvPr>
          <p:cNvSpPr>
            <a:spLocks noGrp="1"/>
          </p:cNvSpPr>
          <p:nvPr/>
        </p:nvSpPr>
        <p:spPr>
          <a:xfrm>
            <a:off x="1181100" y="28813316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archivos temporales.</a:t>
            </a:r>
          </a:p>
        </p:txBody>
      </p:sp>
      <p:sp>
        <p:nvSpPr>
          <p:cNvPr id="126" name="node-commits">
            <a:extLst>
              <a:ext uri="{FF2B5EF4-FFF2-40B4-BE49-F238E27FC236}">
                <a16:creationId xmlns:a16="http://schemas.microsoft.com/office/drawing/2014/main" id="{96D04464-3101-4D30-B662-51382813303A}"/>
              </a:ext>
            </a:extLst>
          </p:cNvPr>
          <p:cNvSpPr>
            <a:spLocks noGrp="1"/>
          </p:cNvSpPr>
          <p:nvPr/>
        </p:nvSpPr>
        <p:spPr>
          <a:xfrm>
            <a:off x="952500" y="30289500"/>
            <a:ext cx="7620000" cy="2095500"/>
          </a:xfrm>
          <a:prstGeom prst="roundRect">
            <a:avLst>
              <a:gd name="adj" fmla="val 5455"/>
            </a:avLst>
          </a:prstGeom>
          <a:solidFill>
            <a:srgbClr val="F2EEFA"/>
          </a:solidFill>
          <a:ln w="22860">
            <a:solidFill>
              <a:srgbClr val="8670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7" name="commits-title-0">
            <a:extLst>
              <a:ext uri="{FF2B5EF4-FFF2-40B4-BE49-F238E27FC236}">
                <a16:creationId xmlns:a16="http://schemas.microsoft.com/office/drawing/2014/main" id="{79267107-2AE8-4B67-8C52-3DBE543B2B16}"/>
              </a:ext>
            </a:extLst>
          </p:cNvPr>
          <p:cNvSpPr>
            <a:spLocks noGrp="1"/>
          </p:cNvSpPr>
          <p:nvPr/>
        </p:nvSpPr>
        <p:spPr>
          <a:xfrm>
            <a:off x="1181100" y="3042285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COMMITS PROYECTADOS</a:t>
            </a:r>
          </a:p>
        </p:txBody>
      </p:sp>
      <p:sp>
        <p:nvSpPr>
          <p:cNvPr id="128" name="commits-body-0">
            <a:extLst>
              <a:ext uri="{FF2B5EF4-FFF2-40B4-BE49-F238E27FC236}">
                <a16:creationId xmlns:a16="http://schemas.microsoft.com/office/drawing/2014/main" id="{1B465377-845A-43C3-BEF7-0E507F734F42}"/>
              </a:ext>
            </a:extLst>
          </p:cNvPr>
          <p:cNvSpPr>
            <a:spLocks noGrp="1"/>
          </p:cNvSpPr>
          <p:nvPr/>
        </p:nvSpPr>
        <p:spPr>
          <a:xfrm>
            <a:off x="1181100" y="30823853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Inicio: docs: estructura y entorno</a:t>
            </a:r>
          </a:p>
        </p:txBody>
      </p:sp>
      <p:sp>
        <p:nvSpPr>
          <p:cNvPr id="129" name="commits-body-1">
            <a:extLst>
              <a:ext uri="{FF2B5EF4-FFF2-40B4-BE49-F238E27FC236}">
                <a16:creationId xmlns:a16="http://schemas.microsoft.com/office/drawing/2014/main" id="{30795E47-E035-43DE-AC64-F5ED3C1B5186}"/>
              </a:ext>
            </a:extLst>
          </p:cNvPr>
          <p:cNvSpPr>
            <a:spLocks noGrp="1"/>
          </p:cNvSpPr>
          <p:nvPr/>
        </p:nvSpPr>
        <p:spPr>
          <a:xfrm>
            <a:off x="1181100" y="31106173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Diagnóstico: data: fuente y perfilado</a:t>
            </a:r>
          </a:p>
        </p:txBody>
      </p:sp>
      <p:sp>
        <p:nvSpPr>
          <p:cNvPr id="130" name="commits-body-2">
            <a:extLst>
              <a:ext uri="{FF2B5EF4-FFF2-40B4-BE49-F238E27FC236}">
                <a16:creationId xmlns:a16="http://schemas.microsoft.com/office/drawing/2014/main" id="{6AB9864E-FD4C-4B2D-9098-E784569341A4}"/>
              </a:ext>
            </a:extLst>
          </p:cNvPr>
          <p:cNvSpPr>
            <a:spLocks noGrp="1"/>
          </p:cNvSpPr>
          <p:nvPr/>
        </p:nvSpPr>
        <p:spPr>
          <a:xfrm>
            <a:off x="1181100" y="31388495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Preparación: feat: limpieza y validación</a:t>
            </a:r>
          </a:p>
        </p:txBody>
      </p:sp>
      <p:sp>
        <p:nvSpPr>
          <p:cNvPr id="131" name="commits-body-3">
            <a:extLst>
              <a:ext uri="{FF2B5EF4-FFF2-40B4-BE49-F238E27FC236}">
                <a16:creationId xmlns:a16="http://schemas.microsoft.com/office/drawing/2014/main" id="{5312ED49-E4B7-49C1-8AF0-11AA7BA7A3DA}"/>
              </a:ext>
            </a:extLst>
          </p:cNvPr>
          <p:cNvSpPr>
            <a:spLocks noGrp="1"/>
          </p:cNvSpPr>
          <p:nvPr/>
        </p:nvSpPr>
        <p:spPr>
          <a:xfrm>
            <a:off x="1181100" y="31670816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Análisis: feat: tablas y visualizaciones</a:t>
            </a:r>
          </a:p>
        </p:txBody>
      </p:sp>
      <p:sp>
        <p:nvSpPr>
          <p:cNvPr id="132" name="commits-body-4">
            <a:extLst>
              <a:ext uri="{FF2B5EF4-FFF2-40B4-BE49-F238E27FC236}">
                <a16:creationId xmlns:a16="http://schemas.microsoft.com/office/drawing/2014/main" id="{2B412EC1-8B62-4BAB-8AB1-E05322072964}"/>
              </a:ext>
            </a:extLst>
          </p:cNvPr>
          <p:cNvSpPr>
            <a:spLocks noGrp="1"/>
          </p:cNvSpPr>
          <p:nvPr/>
        </p:nvSpPr>
        <p:spPr>
          <a:xfrm>
            <a:off x="1181100" y="31953137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Cierre: docs: decisiones e informe</a:t>
            </a:r>
          </a:p>
        </p:txBody>
      </p:sp>
      <p:sp>
        <p:nvSpPr>
          <p:cNvPr id="133" name="node-reflexion">
            <a:extLst>
              <a:ext uri="{FF2B5EF4-FFF2-40B4-BE49-F238E27FC236}">
                <a16:creationId xmlns:a16="http://schemas.microsoft.com/office/drawing/2014/main" id="{4D7FFCA7-F080-4ABA-8232-BCCA850A1A89}"/>
              </a:ext>
            </a:extLst>
          </p:cNvPr>
          <p:cNvSpPr>
            <a:spLocks noGrp="1"/>
          </p:cNvSpPr>
          <p:nvPr/>
        </p:nvSpPr>
        <p:spPr>
          <a:xfrm>
            <a:off x="20002500" y="2381250"/>
            <a:ext cx="7620000" cy="1619250"/>
          </a:xfrm>
          <a:prstGeom prst="roundRect">
            <a:avLst>
              <a:gd name="adj" fmla="val 7059"/>
            </a:avLst>
          </a:prstGeom>
          <a:solidFill>
            <a:srgbClr val="FFF4E7"/>
          </a:solidFill>
          <a:ln w="22860">
            <a:solidFill>
              <a:srgbClr val="BC82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4" name="reflexion-title-0">
            <a:extLst>
              <a:ext uri="{FF2B5EF4-FFF2-40B4-BE49-F238E27FC236}">
                <a16:creationId xmlns:a16="http://schemas.microsoft.com/office/drawing/2014/main" id="{381CC8BC-6233-480F-B740-57CF48289979}"/>
              </a:ext>
            </a:extLst>
          </p:cNvPr>
          <p:cNvSpPr>
            <a:spLocks noGrp="1"/>
          </p:cNvSpPr>
          <p:nvPr/>
        </p:nvSpPr>
        <p:spPr>
          <a:xfrm>
            <a:off x="20231100" y="251460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JUSTIFICACIÓN TÉCNICA</a:t>
            </a:r>
          </a:p>
        </p:txBody>
      </p:sp>
      <p:sp>
        <p:nvSpPr>
          <p:cNvPr id="135" name="reflexion-body-0">
            <a:extLst>
              <a:ext uri="{FF2B5EF4-FFF2-40B4-BE49-F238E27FC236}">
                <a16:creationId xmlns:a16="http://schemas.microsoft.com/office/drawing/2014/main" id="{680AC0C1-D0CB-4BC4-92B0-4BEDC8BDF51E}"/>
              </a:ext>
            </a:extLst>
          </p:cNvPr>
          <p:cNvSpPr>
            <a:spLocks noGrp="1"/>
          </p:cNvSpPr>
          <p:nvPr/>
        </p:nvSpPr>
        <p:spPr>
          <a:xfrm>
            <a:off x="20231100" y="291560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Python permite reconstruir órdenes por reglas. Jupyter</a:t>
            </a:r>
          </a:p>
        </p:txBody>
      </p:sp>
      <p:sp>
        <p:nvSpPr>
          <p:cNvPr id="136" name="reflexion-body-1">
            <a:extLst>
              <a:ext uri="{FF2B5EF4-FFF2-40B4-BE49-F238E27FC236}">
                <a16:creationId xmlns:a16="http://schemas.microsoft.com/office/drawing/2014/main" id="{5E8B0B25-7158-4940-BE77-0FE192A38997}"/>
              </a:ext>
            </a:extLst>
          </p:cNvPr>
          <p:cNvSpPr>
            <a:spLocks noGrp="1"/>
          </p:cNvSpPr>
          <p:nvPr/>
        </p:nvSpPr>
        <p:spPr>
          <a:xfrm>
            <a:off x="20231100" y="320878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expone sus justificaciones. Git y GitHub hacen</a:t>
            </a:r>
          </a:p>
        </p:txBody>
      </p:sp>
      <p:sp>
        <p:nvSpPr>
          <p:cNvPr id="137" name="reflexion-body-2">
            <a:extLst>
              <a:ext uri="{FF2B5EF4-FFF2-40B4-BE49-F238E27FC236}">
                <a16:creationId xmlns:a16="http://schemas.microsoft.com/office/drawing/2014/main" id="{A4F2A1F8-37AE-4A57-9DD0-DCF7CE5E1214}"/>
              </a:ext>
            </a:extLst>
          </p:cNvPr>
          <p:cNvSpPr>
            <a:spLocks noGrp="1"/>
          </p:cNvSpPr>
          <p:nvPr/>
        </p:nvSpPr>
        <p:spPr>
          <a:xfrm>
            <a:off x="20231100" y="350196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identificables los aportes de los cuatro integrantes.</a:t>
            </a:r>
          </a:p>
        </p:txBody>
      </p:sp>
      <p:sp>
        <p:nvSpPr>
          <p:cNvPr id="138" name="node-alcance">
            <a:extLst>
              <a:ext uri="{FF2B5EF4-FFF2-40B4-BE49-F238E27FC236}">
                <a16:creationId xmlns:a16="http://schemas.microsoft.com/office/drawing/2014/main" id="{E3A4026D-DE55-4523-9FFC-66BE8A49123E}"/>
              </a:ext>
            </a:extLst>
          </p:cNvPr>
          <p:cNvSpPr>
            <a:spLocks noGrp="1"/>
          </p:cNvSpPr>
          <p:nvPr/>
        </p:nvSpPr>
        <p:spPr>
          <a:xfrm>
            <a:off x="20002500" y="4857750"/>
            <a:ext cx="7620000" cy="1905000"/>
          </a:xfrm>
          <a:prstGeom prst="roundRect">
            <a:avLst>
              <a:gd name="adj" fmla="val 6000"/>
            </a:avLst>
          </a:prstGeom>
          <a:solidFill>
            <a:srgbClr val="FFF4E7"/>
          </a:solidFill>
          <a:ln w="22860">
            <a:solidFill>
              <a:srgbClr val="BC82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9" name="alcance-title-0">
            <a:extLst>
              <a:ext uri="{FF2B5EF4-FFF2-40B4-BE49-F238E27FC236}">
                <a16:creationId xmlns:a16="http://schemas.microsoft.com/office/drawing/2014/main" id="{999B4E24-6B50-43A4-B3BD-98E01593816C}"/>
              </a:ext>
            </a:extLst>
          </p:cNvPr>
          <p:cNvSpPr>
            <a:spLocks noGrp="1"/>
          </p:cNvSpPr>
          <p:nvPr/>
        </p:nvSpPr>
        <p:spPr>
          <a:xfrm>
            <a:off x="20231100" y="499110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SUPUESTOS Y LÍMITES</a:t>
            </a:r>
          </a:p>
        </p:txBody>
      </p:sp>
      <p:sp>
        <p:nvSpPr>
          <p:cNvPr id="140" name="alcance-body-0">
            <a:extLst>
              <a:ext uri="{FF2B5EF4-FFF2-40B4-BE49-F238E27FC236}">
                <a16:creationId xmlns:a16="http://schemas.microsoft.com/office/drawing/2014/main" id="{449AB2FA-D6AB-44A7-9DE3-272D3D30108F}"/>
              </a:ext>
            </a:extLst>
          </p:cNvPr>
          <p:cNvSpPr>
            <a:spLocks noGrp="1"/>
          </p:cNvSpPr>
          <p:nvPr/>
        </p:nvSpPr>
        <p:spPr>
          <a:xfrm>
            <a:off x="20231100" y="539210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Análisis descriptivo de una municipalidad.</a:t>
            </a:r>
          </a:p>
        </p:txBody>
      </p:sp>
      <p:sp>
        <p:nvSpPr>
          <p:cNvPr id="141" name="alcance-body-1">
            <a:extLst>
              <a:ext uri="{FF2B5EF4-FFF2-40B4-BE49-F238E27FC236}">
                <a16:creationId xmlns:a16="http://schemas.microsoft.com/office/drawing/2014/main" id="{A8DA57CF-8EBF-463F-8708-A566618F4608}"/>
              </a:ext>
            </a:extLst>
          </p:cNvPr>
          <p:cNvSpPr>
            <a:spLocks noGrp="1"/>
          </p:cNvSpPr>
          <p:nvPr/>
        </p:nvSpPr>
        <p:spPr>
          <a:xfrm>
            <a:off x="20231100" y="568528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FechaEnvioOC representa envío.</a:t>
            </a:r>
          </a:p>
        </p:txBody>
      </p:sp>
      <p:sp>
        <p:nvSpPr>
          <p:cNvPr id="142" name="alcance-body-2">
            <a:extLst>
              <a:ext uri="{FF2B5EF4-FFF2-40B4-BE49-F238E27FC236}">
                <a16:creationId xmlns:a16="http://schemas.microsoft.com/office/drawing/2014/main" id="{00275DE8-9829-43EC-ADF8-3DD94FCE0FB7}"/>
              </a:ext>
            </a:extLst>
          </p:cNvPr>
          <p:cNvSpPr>
            <a:spLocks noGrp="1"/>
          </p:cNvSpPr>
          <p:nvPr/>
        </p:nvSpPr>
        <p:spPr>
          <a:xfrm>
            <a:off x="20231100" y="597846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Fuera: pagos, causalidad, irregularidades y</a:t>
            </a:r>
          </a:p>
        </p:txBody>
      </p:sp>
      <p:sp>
        <p:nvSpPr>
          <p:cNvPr id="143" name="alcance-body-3">
            <a:extLst>
              <a:ext uri="{FF2B5EF4-FFF2-40B4-BE49-F238E27FC236}">
                <a16:creationId xmlns:a16="http://schemas.microsoft.com/office/drawing/2014/main" id="{DA94D3DD-1E67-479B-8FBF-3E04ED7B9C77}"/>
              </a:ext>
            </a:extLst>
          </p:cNvPr>
          <p:cNvSpPr>
            <a:spLocks noGrp="1"/>
          </p:cNvSpPr>
          <p:nvPr/>
        </p:nvSpPr>
        <p:spPr>
          <a:xfrm>
            <a:off x="20231100" y="627164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estacionalidad recurrente.</a:t>
            </a:r>
          </a:p>
        </p:txBody>
      </p:sp>
      <p:sp>
        <p:nvSpPr>
          <p:cNvPr id="144" name="node-granularidad">
            <a:extLst>
              <a:ext uri="{FF2B5EF4-FFF2-40B4-BE49-F238E27FC236}">
                <a16:creationId xmlns:a16="http://schemas.microsoft.com/office/drawing/2014/main" id="{0C91FA47-3C4E-4D8D-8B03-6F9411843992}"/>
              </a:ext>
            </a:extLst>
          </p:cNvPr>
          <p:cNvSpPr>
            <a:spLocks noGrp="1"/>
          </p:cNvSpPr>
          <p:nvPr/>
        </p:nvSpPr>
        <p:spPr>
          <a:xfrm>
            <a:off x="20002500" y="7620000"/>
            <a:ext cx="7620000" cy="2000250"/>
          </a:xfrm>
          <a:prstGeom prst="roundRect">
            <a:avLst>
              <a:gd name="adj" fmla="val 5714"/>
            </a:avLst>
          </a:prstGeom>
          <a:solidFill>
            <a:srgbClr val="EBF6EF"/>
          </a:solidFill>
          <a:ln w="22860">
            <a:solidFill>
              <a:srgbClr val="4280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5" name="granularidad-title-0">
            <a:extLst>
              <a:ext uri="{FF2B5EF4-FFF2-40B4-BE49-F238E27FC236}">
                <a16:creationId xmlns:a16="http://schemas.microsoft.com/office/drawing/2014/main" id="{89B37A3C-4929-4D38-AC3E-F64B11784FFD}"/>
              </a:ext>
            </a:extLst>
          </p:cNvPr>
          <p:cNvSpPr>
            <a:spLocks noGrp="1"/>
          </p:cNvSpPr>
          <p:nvPr/>
        </p:nvSpPr>
        <p:spPr>
          <a:xfrm>
            <a:off x="20231100" y="775335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UNIDAD DE ANÁLISIS</a:t>
            </a:r>
          </a:p>
        </p:txBody>
      </p:sp>
      <p:sp>
        <p:nvSpPr>
          <p:cNvPr id="146" name="granularidad-body-0">
            <a:extLst>
              <a:ext uri="{FF2B5EF4-FFF2-40B4-BE49-F238E27FC236}">
                <a16:creationId xmlns:a16="http://schemas.microsoft.com/office/drawing/2014/main" id="{080B5420-0E87-45AD-AFEE-B74E1734EB5A}"/>
              </a:ext>
            </a:extLst>
          </p:cNvPr>
          <p:cNvSpPr>
            <a:spLocks noGrp="1"/>
          </p:cNvSpPr>
          <p:nvPr/>
        </p:nvSpPr>
        <p:spPr>
          <a:xfrm>
            <a:off x="20231100" y="815435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Hay 541 códigos de orden distintos.</a:t>
            </a:r>
          </a:p>
        </p:txBody>
      </p:sp>
      <p:sp>
        <p:nvSpPr>
          <p:cNvPr id="147" name="granularidad-body-1">
            <a:extLst>
              <a:ext uri="{FF2B5EF4-FFF2-40B4-BE49-F238E27FC236}">
                <a16:creationId xmlns:a16="http://schemas.microsoft.com/office/drawing/2014/main" id="{12E81BB0-B0EC-44AF-AC55-F9552555FEE6}"/>
              </a:ext>
            </a:extLst>
          </p:cNvPr>
          <p:cNvSpPr>
            <a:spLocks noGrp="1"/>
          </p:cNvSpPr>
          <p:nvPr/>
        </p:nvSpPr>
        <p:spPr>
          <a:xfrm>
            <a:off x="20231100" y="844753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La OC 2427-699-AG25 tiene 1.024 filas: 32 detalles de</a:t>
            </a:r>
          </a:p>
        </p:txBody>
      </p:sp>
      <p:sp>
        <p:nvSpPr>
          <p:cNvPr id="148" name="granularidad-body-2">
            <a:extLst>
              <a:ext uri="{FF2B5EF4-FFF2-40B4-BE49-F238E27FC236}">
                <a16:creationId xmlns:a16="http://schemas.microsoft.com/office/drawing/2014/main" id="{828A648A-B123-48A6-B491-EDB478FB62F3}"/>
              </a:ext>
            </a:extLst>
          </p:cNvPr>
          <p:cNvSpPr>
            <a:spLocks noGrp="1"/>
          </p:cNvSpPr>
          <p:nvPr/>
        </p:nvSpPr>
        <p:spPr>
          <a:xfrm>
            <a:off x="20231100" y="874071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ítem por 32 de cotización.</a:t>
            </a:r>
          </a:p>
        </p:txBody>
      </p:sp>
      <p:sp>
        <p:nvSpPr>
          <p:cNvPr id="149" name="granularidad-body-3">
            <a:extLst>
              <a:ext uri="{FF2B5EF4-FFF2-40B4-BE49-F238E27FC236}">
                <a16:creationId xmlns:a16="http://schemas.microsoft.com/office/drawing/2014/main" id="{C21E33F7-D99F-417F-B9CC-176477B747BE}"/>
              </a:ext>
            </a:extLst>
          </p:cNvPr>
          <p:cNvSpPr>
            <a:spLocks noGrp="1"/>
          </p:cNvSpPr>
          <p:nvPr/>
        </p:nvSpPr>
        <p:spPr>
          <a:xfrm>
            <a:off x="20231100" y="903389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El cruce requiere validación antes de sumar.</a:t>
            </a:r>
          </a:p>
        </p:txBody>
      </p:sp>
      <p:sp>
        <p:nvSpPr>
          <p:cNvPr id="150" name="node-lectura">
            <a:extLst>
              <a:ext uri="{FF2B5EF4-FFF2-40B4-BE49-F238E27FC236}">
                <a16:creationId xmlns:a16="http://schemas.microsoft.com/office/drawing/2014/main" id="{1DE59C0E-1F74-492D-BA8B-7C9F9EA43C7E}"/>
              </a:ext>
            </a:extLst>
          </p:cNvPr>
          <p:cNvSpPr>
            <a:spLocks noGrp="1"/>
          </p:cNvSpPr>
          <p:nvPr/>
        </p:nvSpPr>
        <p:spPr>
          <a:xfrm>
            <a:off x="20002500" y="10477500"/>
            <a:ext cx="7620000" cy="1714500"/>
          </a:xfrm>
          <a:prstGeom prst="roundRect">
            <a:avLst>
              <a:gd name="adj" fmla="val 6667"/>
            </a:avLst>
          </a:prstGeom>
          <a:solidFill>
            <a:srgbClr val="FFF4E7"/>
          </a:solidFill>
          <a:ln w="22860">
            <a:solidFill>
              <a:srgbClr val="BC82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1" name="lectura-title-0">
            <a:extLst>
              <a:ext uri="{FF2B5EF4-FFF2-40B4-BE49-F238E27FC236}">
                <a16:creationId xmlns:a16="http://schemas.microsoft.com/office/drawing/2014/main" id="{053A14FD-DDCA-4631-B489-96D9F277939D}"/>
              </a:ext>
            </a:extLst>
          </p:cNvPr>
          <p:cNvSpPr>
            <a:spLocks noGrp="1"/>
          </p:cNvSpPr>
          <p:nvPr/>
        </p:nvSpPr>
        <p:spPr>
          <a:xfrm>
            <a:off x="20231100" y="1061085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LECTURA EXPLÍCITA</a:t>
            </a:r>
          </a:p>
        </p:txBody>
      </p:sp>
      <p:sp>
        <p:nvSpPr>
          <p:cNvPr id="152" name="lectura-body-0">
            <a:extLst>
              <a:ext uri="{FF2B5EF4-FFF2-40B4-BE49-F238E27FC236}">
                <a16:creationId xmlns:a16="http://schemas.microsoft.com/office/drawing/2014/main" id="{04F575BB-A5CC-4AD9-A5DE-C932D0DA54A9}"/>
              </a:ext>
            </a:extLst>
          </p:cNvPr>
          <p:cNvSpPr>
            <a:spLocks noGrp="1"/>
          </p:cNvSpPr>
          <p:nvPr/>
        </p:nvSpPr>
        <p:spPr>
          <a:xfrm>
            <a:off x="20231100" y="1101185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CSV con separador punto y coma y codificación</a:t>
            </a:r>
          </a:p>
        </p:txBody>
      </p:sp>
      <p:sp>
        <p:nvSpPr>
          <p:cNvPr id="153" name="lectura-body-1">
            <a:extLst>
              <a:ext uri="{FF2B5EF4-FFF2-40B4-BE49-F238E27FC236}">
                <a16:creationId xmlns:a16="http://schemas.microsoft.com/office/drawing/2014/main" id="{B1FA7B24-916E-4237-887B-D7D18861E726}"/>
              </a:ext>
            </a:extLst>
          </p:cNvPr>
          <p:cNvSpPr>
            <a:spLocks noGrp="1"/>
          </p:cNvSpPr>
          <p:nvPr/>
        </p:nvSpPr>
        <p:spPr>
          <a:xfrm>
            <a:off x="20231100" y="1130503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compatible Windows-1252.</a:t>
            </a:r>
          </a:p>
        </p:txBody>
      </p:sp>
      <p:sp>
        <p:nvSpPr>
          <p:cNvPr id="154" name="lectura-body-2">
            <a:extLst>
              <a:ext uri="{FF2B5EF4-FFF2-40B4-BE49-F238E27FC236}">
                <a16:creationId xmlns:a16="http://schemas.microsoft.com/office/drawing/2014/main" id="{5363D4B2-EEA3-4EFD-ACD3-E7CB2AF14BEB}"/>
              </a:ext>
            </a:extLst>
          </p:cNvPr>
          <p:cNvSpPr>
            <a:spLocks noGrp="1"/>
          </p:cNvSpPr>
          <p:nvPr/>
        </p:nvSpPr>
        <p:spPr>
          <a:xfrm>
            <a:off x="20231100" y="1159821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Coma decimal. Fechas en orden día, mes y año.</a:t>
            </a:r>
          </a:p>
        </p:txBody>
      </p:sp>
      <p:sp>
        <p:nvSpPr>
          <p:cNvPr id="155" name="node-calidad">
            <a:extLst>
              <a:ext uri="{FF2B5EF4-FFF2-40B4-BE49-F238E27FC236}">
                <a16:creationId xmlns:a16="http://schemas.microsoft.com/office/drawing/2014/main" id="{5253D182-DCBE-4553-B333-20DAF8EAD8BC}"/>
              </a:ext>
            </a:extLst>
          </p:cNvPr>
          <p:cNvSpPr>
            <a:spLocks noGrp="1"/>
          </p:cNvSpPr>
          <p:nvPr/>
        </p:nvSpPr>
        <p:spPr>
          <a:xfrm>
            <a:off x="20002500" y="13049250"/>
            <a:ext cx="7620000" cy="2000250"/>
          </a:xfrm>
          <a:prstGeom prst="roundRect">
            <a:avLst>
              <a:gd name="adj" fmla="val 5714"/>
            </a:avLst>
          </a:prstGeom>
          <a:solidFill>
            <a:srgbClr val="EBF6EF"/>
          </a:solidFill>
          <a:ln w="22860">
            <a:solidFill>
              <a:srgbClr val="4280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6" name="calidad-title-0">
            <a:extLst>
              <a:ext uri="{FF2B5EF4-FFF2-40B4-BE49-F238E27FC236}">
                <a16:creationId xmlns:a16="http://schemas.microsoft.com/office/drawing/2014/main" id="{E735B4A3-C9AF-47E3-9D70-C9A2C41D5378}"/>
              </a:ext>
            </a:extLst>
          </p:cNvPr>
          <p:cNvSpPr>
            <a:spLocks noGrp="1"/>
          </p:cNvSpPr>
          <p:nvPr/>
        </p:nvSpPr>
        <p:spPr>
          <a:xfrm>
            <a:off x="20231100" y="1318260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FALTANTES COMPROBADOS</a:t>
            </a:r>
          </a:p>
        </p:txBody>
      </p:sp>
      <p:sp>
        <p:nvSpPr>
          <p:cNvPr id="157" name="calidad-body-0">
            <a:extLst>
              <a:ext uri="{FF2B5EF4-FFF2-40B4-BE49-F238E27FC236}">
                <a16:creationId xmlns:a16="http://schemas.microsoft.com/office/drawing/2014/main" id="{EEDC7130-00B2-4EE0-A9C2-2D953B65A521}"/>
              </a:ext>
            </a:extLst>
          </p:cNvPr>
          <p:cNvSpPr>
            <a:spLocks noGrp="1"/>
          </p:cNvSpPr>
          <p:nvPr/>
        </p:nvSpPr>
        <p:spPr>
          <a:xfrm>
            <a:off x="20231100" y="1358360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ActividadProveedor: 2.695 filas (24,11 %).</a:t>
            </a:r>
          </a:p>
        </p:txBody>
      </p:sp>
      <p:sp>
        <p:nvSpPr>
          <p:cNvPr id="158" name="calidad-body-1">
            <a:extLst>
              <a:ext uri="{FF2B5EF4-FFF2-40B4-BE49-F238E27FC236}">
                <a16:creationId xmlns:a16="http://schemas.microsoft.com/office/drawing/2014/main" id="{9EC2FEDD-F5A9-47B2-A20B-CA657BDA3F7E}"/>
              </a:ext>
            </a:extLst>
          </p:cNvPr>
          <p:cNvSpPr>
            <a:spLocks noGrp="1"/>
          </p:cNvSpPr>
          <p:nvPr/>
        </p:nvSpPr>
        <p:spPr>
          <a:xfrm>
            <a:off x="20231100" y="1387678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RegionProveedor: 150 filas (1,34 %).</a:t>
            </a:r>
          </a:p>
        </p:txBody>
      </p:sp>
      <p:sp>
        <p:nvSpPr>
          <p:cNvPr id="159" name="calidad-body-2">
            <a:extLst>
              <a:ext uri="{FF2B5EF4-FFF2-40B4-BE49-F238E27FC236}">
                <a16:creationId xmlns:a16="http://schemas.microsoft.com/office/drawing/2014/main" id="{B96EEEF7-96FB-43D1-A300-DCF735D5C33F}"/>
              </a:ext>
            </a:extLst>
          </p:cNvPr>
          <p:cNvSpPr>
            <a:spLocks noGrp="1"/>
          </p:cNvSpPr>
          <p:nvPr/>
        </p:nvSpPr>
        <p:spPr>
          <a:xfrm>
            <a:off x="20231100" y="1416996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ImpuestoEspecificoItem</a:t>
            </a:r>
            <a:r>
              <a:rPr sz="2025" b="0" dirty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: 100 % </a:t>
            </a:r>
            <a:r>
              <a:rPr sz="2025" b="0" dirty="0" err="1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vacío</a:t>
            </a:r>
            <a:r>
              <a:rPr sz="2025" b="0" dirty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160" name="calidad-body-3">
            <a:extLst>
              <a:ext uri="{FF2B5EF4-FFF2-40B4-BE49-F238E27FC236}">
                <a16:creationId xmlns:a16="http://schemas.microsoft.com/office/drawing/2014/main" id="{5DCFE1C3-72AF-4B68-B7D2-1A0A697E1DCB}"/>
              </a:ext>
            </a:extLst>
          </p:cNvPr>
          <p:cNvSpPr>
            <a:spLocks noGrp="1"/>
          </p:cNvSpPr>
          <p:nvPr/>
        </p:nvSpPr>
        <p:spPr>
          <a:xfrm>
            <a:off x="20231100" y="1446314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Los porcentajes corresponden a filas.</a:t>
            </a:r>
          </a:p>
        </p:txBody>
      </p:sp>
      <p:sp>
        <p:nvSpPr>
          <p:cNvPr id="161" name="node-repeticiones">
            <a:extLst>
              <a:ext uri="{FF2B5EF4-FFF2-40B4-BE49-F238E27FC236}">
                <a16:creationId xmlns:a16="http://schemas.microsoft.com/office/drawing/2014/main" id="{52E64EC7-BC40-41ED-B5E7-7E42E0CCBC97}"/>
              </a:ext>
            </a:extLst>
          </p:cNvPr>
          <p:cNvSpPr>
            <a:spLocks noGrp="1"/>
          </p:cNvSpPr>
          <p:nvPr/>
        </p:nvSpPr>
        <p:spPr>
          <a:xfrm>
            <a:off x="20002500" y="15906750"/>
            <a:ext cx="7620000" cy="2190750"/>
          </a:xfrm>
          <a:prstGeom prst="roundRect">
            <a:avLst>
              <a:gd name="adj" fmla="val 5217"/>
            </a:avLst>
          </a:prstGeom>
          <a:solidFill>
            <a:srgbClr val="EBF6EF"/>
          </a:solidFill>
          <a:ln w="22860">
            <a:solidFill>
              <a:srgbClr val="4280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2" name="repeticiones-title-0">
            <a:extLst>
              <a:ext uri="{FF2B5EF4-FFF2-40B4-BE49-F238E27FC236}">
                <a16:creationId xmlns:a16="http://schemas.microsoft.com/office/drawing/2014/main" id="{30C71089-54BA-462A-8B05-E3247DB62C6A}"/>
              </a:ext>
            </a:extLst>
          </p:cNvPr>
          <p:cNvSpPr>
            <a:spLocks noGrp="1"/>
          </p:cNvSpPr>
          <p:nvPr/>
        </p:nvSpPr>
        <p:spPr>
          <a:xfrm>
            <a:off x="20231100" y="1604010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REPETICIONES QUE DEBEN REVISARSE</a:t>
            </a:r>
          </a:p>
        </p:txBody>
      </p:sp>
      <p:sp>
        <p:nvSpPr>
          <p:cNvPr id="163" name="repeticiones-body-0">
            <a:extLst>
              <a:ext uri="{FF2B5EF4-FFF2-40B4-BE49-F238E27FC236}">
                <a16:creationId xmlns:a16="http://schemas.microsoft.com/office/drawing/2014/main" id="{D20EC096-A013-4505-968B-E83DB3300E2A}"/>
              </a:ext>
            </a:extLst>
          </p:cNvPr>
          <p:cNvSpPr>
            <a:spLocks noGrp="1"/>
          </p:cNvSpPr>
          <p:nvPr/>
        </p:nvSpPr>
        <p:spPr>
          <a:xfrm>
            <a:off x="20231100" y="1644110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Hay 6 filas idénticas adicionales.</a:t>
            </a:r>
          </a:p>
        </p:txBody>
      </p:sp>
      <p:sp>
        <p:nvSpPr>
          <p:cNvPr id="164" name="repeticiones-body-1">
            <a:extLst>
              <a:ext uri="{FF2B5EF4-FFF2-40B4-BE49-F238E27FC236}">
                <a16:creationId xmlns:a16="http://schemas.microsoft.com/office/drawing/2014/main" id="{276ADD7A-BE9B-4E54-A436-EB0EBF063498}"/>
              </a:ext>
            </a:extLst>
          </p:cNvPr>
          <p:cNvSpPr>
            <a:spLocks noGrp="1"/>
          </p:cNvSpPr>
          <p:nvPr/>
        </p:nvSpPr>
        <p:spPr>
          <a:xfrm>
            <a:off x="20231100" y="1673428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OC 2427-264-AG25: dos líneas de $1.000.000</a:t>
            </a:r>
          </a:p>
        </p:txBody>
      </p:sp>
      <p:sp>
        <p:nvSpPr>
          <p:cNvPr id="165" name="repeticiones-body-2">
            <a:extLst>
              <a:ext uri="{FF2B5EF4-FFF2-40B4-BE49-F238E27FC236}">
                <a16:creationId xmlns:a16="http://schemas.microsoft.com/office/drawing/2014/main" id="{1965C86C-D733-4E93-8564-B23EF077709B}"/>
              </a:ext>
            </a:extLst>
          </p:cNvPr>
          <p:cNvSpPr>
            <a:spLocks noGrp="1"/>
          </p:cNvSpPr>
          <p:nvPr/>
        </p:nvSpPr>
        <p:spPr>
          <a:xfrm>
            <a:off x="20231100" y="1702746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coinciden con un neto de $2.000.000.</a:t>
            </a:r>
          </a:p>
        </p:txBody>
      </p:sp>
      <p:sp>
        <p:nvSpPr>
          <p:cNvPr id="166" name="repeticiones-body-3">
            <a:extLst>
              <a:ext uri="{FF2B5EF4-FFF2-40B4-BE49-F238E27FC236}">
                <a16:creationId xmlns:a16="http://schemas.microsoft.com/office/drawing/2014/main" id="{432FEC04-E169-407A-90A3-D3AE09E5293D}"/>
              </a:ext>
            </a:extLst>
          </p:cNvPr>
          <p:cNvSpPr>
            <a:spLocks noGrp="1"/>
          </p:cNvSpPr>
          <p:nvPr/>
        </p:nvSpPr>
        <p:spPr>
          <a:xfrm>
            <a:off x="20231100" y="1732064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Eliminar una rompe el cuadre. Validar su significado</a:t>
            </a:r>
          </a:p>
        </p:txBody>
      </p:sp>
      <p:sp>
        <p:nvSpPr>
          <p:cNvPr id="167" name="repeticiones-body-4">
            <a:extLst>
              <a:ext uri="{FF2B5EF4-FFF2-40B4-BE49-F238E27FC236}">
                <a16:creationId xmlns:a16="http://schemas.microsoft.com/office/drawing/2014/main" id="{649120A4-2ABA-4D4C-9614-DFF5396CEEA2}"/>
              </a:ext>
            </a:extLst>
          </p:cNvPr>
          <p:cNvSpPr>
            <a:spLocks noGrp="1"/>
          </p:cNvSpPr>
          <p:nvPr/>
        </p:nvSpPr>
        <p:spPr>
          <a:xfrm>
            <a:off x="20231100" y="17613820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antes de depurar.</a:t>
            </a:r>
          </a:p>
        </p:txBody>
      </p:sp>
      <p:sp>
        <p:nvSpPr>
          <p:cNvPr id="168" name="node-rubros">
            <a:extLst>
              <a:ext uri="{FF2B5EF4-FFF2-40B4-BE49-F238E27FC236}">
                <a16:creationId xmlns:a16="http://schemas.microsoft.com/office/drawing/2014/main" id="{43CAAC91-0D61-44C7-89F8-B51128495AFF}"/>
              </a:ext>
            </a:extLst>
          </p:cNvPr>
          <p:cNvSpPr>
            <a:spLocks noGrp="1"/>
          </p:cNvSpPr>
          <p:nvPr/>
        </p:nvSpPr>
        <p:spPr>
          <a:xfrm>
            <a:off x="20002500" y="18954750"/>
            <a:ext cx="7620000" cy="1905000"/>
          </a:xfrm>
          <a:prstGeom prst="roundRect">
            <a:avLst>
              <a:gd name="adj" fmla="val 6000"/>
            </a:avLst>
          </a:prstGeom>
          <a:solidFill>
            <a:srgbClr val="FFF4E7"/>
          </a:solidFill>
          <a:ln w="22860">
            <a:solidFill>
              <a:srgbClr val="BC82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9" name="rubros-title-0">
            <a:extLst>
              <a:ext uri="{FF2B5EF4-FFF2-40B4-BE49-F238E27FC236}">
                <a16:creationId xmlns:a16="http://schemas.microsoft.com/office/drawing/2014/main" id="{692B6FB7-62DF-47E4-80CA-3472FAA61932}"/>
              </a:ext>
            </a:extLst>
          </p:cNvPr>
          <p:cNvSpPr>
            <a:spLocks noGrp="1"/>
          </p:cNvSpPr>
          <p:nvPr/>
        </p:nvSpPr>
        <p:spPr>
          <a:xfrm>
            <a:off x="20231100" y="1908810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DECISIÓN SOBRE RUBROS</a:t>
            </a:r>
          </a:p>
        </p:txBody>
      </p:sp>
      <p:sp>
        <p:nvSpPr>
          <p:cNvPr id="170" name="rubros-body-0">
            <a:extLst>
              <a:ext uri="{FF2B5EF4-FFF2-40B4-BE49-F238E27FC236}">
                <a16:creationId xmlns:a16="http://schemas.microsoft.com/office/drawing/2014/main" id="{14FCBF72-5E27-456F-A150-482503277912}"/>
              </a:ext>
            </a:extLst>
          </p:cNvPr>
          <p:cNvSpPr>
            <a:spLocks noGrp="1"/>
          </p:cNvSpPr>
          <p:nvPr/>
        </p:nvSpPr>
        <p:spPr>
          <a:xfrm>
            <a:off x="20231100" y="1948910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Propuesta: resumir por N1 y desagregar por N2/N3,</a:t>
            </a:r>
          </a:p>
        </p:txBody>
      </p:sp>
      <p:sp>
        <p:nvSpPr>
          <p:cNvPr id="171" name="rubros-body-1">
            <a:extLst>
              <a:ext uri="{FF2B5EF4-FFF2-40B4-BE49-F238E27FC236}">
                <a16:creationId xmlns:a16="http://schemas.microsoft.com/office/drawing/2014/main" id="{634A13F3-154F-4394-906C-8AFD5DA38C5F}"/>
              </a:ext>
            </a:extLst>
          </p:cNvPr>
          <p:cNvSpPr>
            <a:spLocks noGrp="1"/>
          </p:cNvSpPr>
          <p:nvPr/>
        </p:nvSpPr>
        <p:spPr>
          <a:xfrm>
            <a:off x="20231100" y="1978228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conservando la ruta completa.</a:t>
            </a:r>
          </a:p>
        </p:txBody>
      </p:sp>
      <p:sp>
        <p:nvSpPr>
          <p:cNvPr id="172" name="rubros-body-2">
            <a:extLst>
              <a:ext uri="{FF2B5EF4-FFF2-40B4-BE49-F238E27FC236}">
                <a16:creationId xmlns:a16="http://schemas.microsoft.com/office/drawing/2014/main" id="{F75EC7C9-AEC5-4AF3-8675-599F0D0C052A}"/>
              </a:ext>
            </a:extLst>
          </p:cNvPr>
          <p:cNvSpPr>
            <a:spLocks noGrp="1"/>
          </p:cNvSpPr>
          <p:nvPr/>
        </p:nvSpPr>
        <p:spPr>
          <a:xfrm>
            <a:off x="20231100" y="2007546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180 órdenes tienen varios N1. Asignar montos del</a:t>
            </a:r>
          </a:p>
        </p:txBody>
      </p:sp>
      <p:sp>
        <p:nvSpPr>
          <p:cNvPr id="173" name="rubros-body-3">
            <a:extLst>
              <a:ext uri="{FF2B5EF4-FFF2-40B4-BE49-F238E27FC236}">
                <a16:creationId xmlns:a16="http://schemas.microsoft.com/office/drawing/2014/main" id="{F2C3C099-E065-44E8-94A4-18596F9D75D2}"/>
              </a:ext>
            </a:extLst>
          </p:cNvPr>
          <p:cNvSpPr>
            <a:spLocks noGrp="1"/>
          </p:cNvSpPr>
          <p:nvPr/>
        </p:nvSpPr>
        <p:spPr>
          <a:xfrm>
            <a:off x="20231100" y="2036864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detalle conciliado a cada rubro.</a:t>
            </a:r>
          </a:p>
        </p:txBody>
      </p:sp>
      <p:sp>
        <p:nvSpPr>
          <p:cNvPr id="174" name="node-monedas">
            <a:extLst>
              <a:ext uri="{FF2B5EF4-FFF2-40B4-BE49-F238E27FC236}">
                <a16:creationId xmlns:a16="http://schemas.microsoft.com/office/drawing/2014/main" id="{B780B274-38D1-437D-A38A-E0DB3B04FDDE}"/>
              </a:ext>
            </a:extLst>
          </p:cNvPr>
          <p:cNvSpPr>
            <a:spLocks noGrp="1"/>
          </p:cNvSpPr>
          <p:nvPr/>
        </p:nvSpPr>
        <p:spPr>
          <a:xfrm>
            <a:off x="20002500" y="21717000"/>
            <a:ext cx="7620000" cy="2190750"/>
          </a:xfrm>
          <a:prstGeom prst="roundRect">
            <a:avLst>
              <a:gd name="adj" fmla="val 5217"/>
            </a:avLst>
          </a:prstGeom>
          <a:solidFill>
            <a:srgbClr val="EBF6EF"/>
          </a:solidFill>
          <a:ln w="22860">
            <a:solidFill>
              <a:srgbClr val="4280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5" name="monedas-title-0">
            <a:extLst>
              <a:ext uri="{FF2B5EF4-FFF2-40B4-BE49-F238E27FC236}">
                <a16:creationId xmlns:a16="http://schemas.microsoft.com/office/drawing/2014/main" id="{BBAE1FAC-3146-4A62-9318-6D4C70923D95}"/>
              </a:ext>
            </a:extLst>
          </p:cNvPr>
          <p:cNvSpPr>
            <a:spLocks noGrp="1"/>
          </p:cNvSpPr>
          <p:nvPr/>
        </p:nvSpPr>
        <p:spPr>
          <a:xfrm>
            <a:off x="20231100" y="2185035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MONEDAS Y ESTADOS</a:t>
            </a:r>
          </a:p>
        </p:txBody>
      </p:sp>
      <p:sp>
        <p:nvSpPr>
          <p:cNvPr id="176" name="monedas-body-0">
            <a:extLst>
              <a:ext uri="{FF2B5EF4-FFF2-40B4-BE49-F238E27FC236}">
                <a16:creationId xmlns:a16="http://schemas.microsoft.com/office/drawing/2014/main" id="{CAC797AE-B1A1-4B9A-8E0A-C488AD466D36}"/>
              </a:ext>
            </a:extLst>
          </p:cNvPr>
          <p:cNvSpPr>
            <a:spLocks noGrp="1"/>
          </p:cNvSpPr>
          <p:nvPr/>
        </p:nvSpPr>
        <p:spPr>
          <a:xfrm>
            <a:off x="20231100" y="2225135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Órdenes: 536 CLP, 2 UTM, 2 USD y 1 CLF.</a:t>
            </a:r>
          </a:p>
        </p:txBody>
      </p:sp>
      <p:sp>
        <p:nvSpPr>
          <p:cNvPr id="177" name="monedas-body-1">
            <a:extLst>
              <a:ext uri="{FF2B5EF4-FFF2-40B4-BE49-F238E27FC236}">
                <a16:creationId xmlns:a16="http://schemas.microsoft.com/office/drawing/2014/main" id="{319036BD-CEC2-48C1-828B-B23BAD3375C9}"/>
              </a:ext>
            </a:extLst>
          </p:cNvPr>
          <p:cNvSpPr>
            <a:spLocks noGrp="1"/>
          </p:cNvSpPr>
          <p:nvPr/>
        </p:nvSpPr>
        <p:spPr>
          <a:xfrm>
            <a:off x="20231100" y="2254453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Estados: 537 aceptadas, 3 con recepción conforme y 1</a:t>
            </a:r>
          </a:p>
        </p:txBody>
      </p:sp>
      <p:sp>
        <p:nvSpPr>
          <p:cNvPr id="178" name="monedas-body-2">
            <a:extLst>
              <a:ext uri="{FF2B5EF4-FFF2-40B4-BE49-F238E27FC236}">
                <a16:creationId xmlns:a16="http://schemas.microsoft.com/office/drawing/2014/main" id="{17A82360-BAF0-45AF-9855-CC9B624DCEDA}"/>
              </a:ext>
            </a:extLst>
          </p:cNvPr>
          <p:cNvSpPr>
            <a:spLocks noGrp="1"/>
          </p:cNvSpPr>
          <p:nvPr/>
        </p:nvSpPr>
        <p:spPr>
          <a:xfrm>
            <a:off x="20231100" y="2283771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con solicitud de cancelación.</a:t>
            </a:r>
          </a:p>
        </p:txBody>
      </p:sp>
      <p:sp>
        <p:nvSpPr>
          <p:cNvPr id="179" name="monedas-body-3">
            <a:extLst>
              <a:ext uri="{FF2B5EF4-FFF2-40B4-BE49-F238E27FC236}">
                <a16:creationId xmlns:a16="http://schemas.microsoft.com/office/drawing/2014/main" id="{83C57C52-D7D8-4230-9E36-9887A7088FCA}"/>
              </a:ext>
            </a:extLst>
          </p:cNvPr>
          <p:cNvSpPr>
            <a:spLocks noGrp="1"/>
          </p:cNvSpPr>
          <p:nvPr/>
        </p:nvSpPr>
        <p:spPr>
          <a:xfrm>
            <a:off x="20231100" y="2313089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Validar campos en CLP y definir inclusión por estado</a:t>
            </a:r>
          </a:p>
        </p:txBody>
      </p:sp>
      <p:sp>
        <p:nvSpPr>
          <p:cNvPr id="180" name="monedas-body-4">
            <a:extLst>
              <a:ext uri="{FF2B5EF4-FFF2-40B4-BE49-F238E27FC236}">
                <a16:creationId xmlns:a16="http://schemas.microsoft.com/office/drawing/2014/main" id="{01B14196-B386-4C36-BBF6-2AC51AE77980}"/>
              </a:ext>
            </a:extLst>
          </p:cNvPr>
          <p:cNvSpPr>
            <a:spLocks noGrp="1"/>
          </p:cNvSpPr>
          <p:nvPr/>
        </p:nvSpPr>
        <p:spPr>
          <a:xfrm>
            <a:off x="20231100" y="23424070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antes de agregar montos.</a:t>
            </a:r>
          </a:p>
        </p:txBody>
      </p:sp>
      <p:sp>
        <p:nvSpPr>
          <p:cNvPr id="181" name="node-atipicos">
            <a:extLst>
              <a:ext uri="{FF2B5EF4-FFF2-40B4-BE49-F238E27FC236}">
                <a16:creationId xmlns:a16="http://schemas.microsoft.com/office/drawing/2014/main" id="{DF4DA528-8053-4C68-AAEF-49FBB74BD7A5}"/>
              </a:ext>
            </a:extLst>
          </p:cNvPr>
          <p:cNvSpPr>
            <a:spLocks noGrp="1"/>
          </p:cNvSpPr>
          <p:nvPr/>
        </p:nvSpPr>
        <p:spPr>
          <a:xfrm>
            <a:off x="20002500" y="24765000"/>
            <a:ext cx="7620000" cy="1809750"/>
          </a:xfrm>
          <a:prstGeom prst="roundRect">
            <a:avLst>
              <a:gd name="adj" fmla="val 6316"/>
            </a:avLst>
          </a:prstGeom>
          <a:solidFill>
            <a:srgbClr val="EBF6EF"/>
          </a:solidFill>
          <a:ln w="22860">
            <a:solidFill>
              <a:srgbClr val="4280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2" name="atipicos-title-0">
            <a:extLst>
              <a:ext uri="{FF2B5EF4-FFF2-40B4-BE49-F238E27FC236}">
                <a16:creationId xmlns:a16="http://schemas.microsoft.com/office/drawing/2014/main" id="{DBEC744C-2E10-4B59-9F72-01AF210C06A1}"/>
              </a:ext>
            </a:extLst>
          </p:cNvPr>
          <p:cNvSpPr>
            <a:spLocks noGrp="1"/>
          </p:cNvSpPr>
          <p:nvPr/>
        </p:nvSpPr>
        <p:spPr>
          <a:xfrm>
            <a:off x="20231100" y="2489835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MONTOS ATÍPICOS</a:t>
            </a:r>
          </a:p>
        </p:txBody>
      </p:sp>
      <p:sp>
        <p:nvSpPr>
          <p:cNvPr id="183" name="atipicos-body-0">
            <a:extLst>
              <a:ext uri="{FF2B5EF4-FFF2-40B4-BE49-F238E27FC236}">
                <a16:creationId xmlns:a16="http://schemas.microsoft.com/office/drawing/2014/main" id="{29C6ABF4-215F-415D-A1AB-E449663332A7}"/>
              </a:ext>
            </a:extLst>
          </p:cNvPr>
          <p:cNvSpPr>
            <a:spLocks noGrp="1"/>
          </p:cNvSpPr>
          <p:nvPr/>
        </p:nvSpPr>
        <p:spPr>
          <a:xfrm>
            <a:off x="20231100" y="25299353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60 de 536 órdenes CLP superan $4.379.267 con Q3 +</a:t>
            </a:r>
          </a:p>
        </p:txBody>
      </p:sp>
      <p:sp>
        <p:nvSpPr>
          <p:cNvPr id="184" name="atipicos-body-1">
            <a:extLst>
              <a:ext uri="{FF2B5EF4-FFF2-40B4-BE49-F238E27FC236}">
                <a16:creationId xmlns:a16="http://schemas.microsoft.com/office/drawing/2014/main" id="{A57E4889-4373-4821-B524-ED082F329ECE}"/>
              </a:ext>
            </a:extLst>
          </p:cNvPr>
          <p:cNvSpPr>
            <a:spLocks noGrp="1"/>
          </p:cNvSpPr>
          <p:nvPr/>
        </p:nvSpPr>
        <p:spPr>
          <a:xfrm>
            <a:off x="20231100" y="25581673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1,5 × RIC (rango intercuartílico). Incluye todos los</a:t>
            </a:r>
          </a:p>
        </p:txBody>
      </p:sp>
      <p:sp>
        <p:nvSpPr>
          <p:cNvPr id="185" name="atipicos-body-2">
            <a:extLst>
              <a:ext uri="{FF2B5EF4-FFF2-40B4-BE49-F238E27FC236}">
                <a16:creationId xmlns:a16="http://schemas.microsoft.com/office/drawing/2014/main" id="{B28A6714-E245-415B-A694-D5FF37E21F43}"/>
              </a:ext>
            </a:extLst>
          </p:cNvPr>
          <p:cNvSpPr>
            <a:spLocks noGrp="1"/>
          </p:cNvSpPr>
          <p:nvPr/>
        </p:nvSpPr>
        <p:spPr>
          <a:xfrm>
            <a:off x="20231100" y="25863995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estados.</a:t>
            </a:r>
          </a:p>
        </p:txBody>
      </p:sp>
      <p:sp>
        <p:nvSpPr>
          <p:cNvPr id="186" name="atipicos-body-3">
            <a:extLst>
              <a:ext uri="{FF2B5EF4-FFF2-40B4-BE49-F238E27FC236}">
                <a16:creationId xmlns:a16="http://schemas.microsoft.com/office/drawing/2014/main" id="{5A3FA4B6-4B3B-4AAC-B674-7615BF1767E4}"/>
              </a:ext>
            </a:extLst>
          </p:cNvPr>
          <p:cNvSpPr>
            <a:spLocks noGrp="1"/>
          </p:cNvSpPr>
          <p:nvPr/>
        </p:nvSpPr>
        <p:spPr>
          <a:xfrm>
            <a:off x="20231100" y="26146316"/>
            <a:ext cx="7162800" cy="3169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143B2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3B2B"/>
                </a:solidFill>
                <a:latin typeface="DejaVu Sans"/>
                <a:ea typeface="DejaVu Sans"/>
                <a:cs typeface="DejaVu Sans"/>
              </a:rPr>
              <a:t>Revisar sin eliminar automáticamente.</a:t>
            </a:r>
          </a:p>
        </p:txBody>
      </p:sp>
      <p:sp>
        <p:nvSpPr>
          <p:cNvPr id="187" name="node-pendientes">
            <a:extLst>
              <a:ext uri="{FF2B5EF4-FFF2-40B4-BE49-F238E27FC236}">
                <a16:creationId xmlns:a16="http://schemas.microsoft.com/office/drawing/2014/main" id="{E98C9E2A-E094-4C11-8941-FF83817C56CA}"/>
              </a:ext>
            </a:extLst>
          </p:cNvPr>
          <p:cNvSpPr>
            <a:spLocks noGrp="1"/>
          </p:cNvSpPr>
          <p:nvPr/>
        </p:nvSpPr>
        <p:spPr>
          <a:xfrm>
            <a:off x="20002500" y="27432000"/>
            <a:ext cx="7620000" cy="2000250"/>
          </a:xfrm>
          <a:prstGeom prst="roundRect">
            <a:avLst>
              <a:gd name="adj" fmla="val 5714"/>
            </a:avLst>
          </a:prstGeom>
          <a:solidFill>
            <a:srgbClr val="FFF4E7"/>
          </a:solidFill>
          <a:ln w="22860">
            <a:solidFill>
              <a:srgbClr val="BC82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8" name="pendientes-title-0">
            <a:extLst>
              <a:ext uri="{FF2B5EF4-FFF2-40B4-BE49-F238E27FC236}">
                <a16:creationId xmlns:a16="http://schemas.microsoft.com/office/drawing/2014/main" id="{B357B27E-D9FD-435F-9B0A-B61CB44DDB7E}"/>
              </a:ext>
            </a:extLst>
          </p:cNvPr>
          <p:cNvSpPr>
            <a:spLocks noGrp="1"/>
          </p:cNvSpPr>
          <p:nvPr/>
        </p:nvSpPr>
        <p:spPr>
          <a:xfrm>
            <a:off x="20231100" y="27565350"/>
            <a:ext cx="7162800" cy="3838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DECISIONES ABIERTAS</a:t>
            </a:r>
          </a:p>
        </p:txBody>
      </p:sp>
      <p:sp>
        <p:nvSpPr>
          <p:cNvPr id="189" name="pendientes-body-0">
            <a:extLst>
              <a:ext uri="{FF2B5EF4-FFF2-40B4-BE49-F238E27FC236}">
                <a16:creationId xmlns:a16="http://schemas.microsoft.com/office/drawing/2014/main" id="{FDBA419E-DDD9-40B8-AE25-6B852BE0B957}"/>
              </a:ext>
            </a:extLst>
          </p:cNvPr>
          <p:cNvSpPr>
            <a:spLocks noGrp="1"/>
          </p:cNvSpPr>
          <p:nvPr/>
        </p:nvSpPr>
        <p:spPr>
          <a:xfrm>
            <a:off x="20231100" y="27966353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Confirmar reconstrucción de ítems.</a:t>
            </a:r>
          </a:p>
        </p:txBody>
      </p:sp>
      <p:sp>
        <p:nvSpPr>
          <p:cNvPr id="190" name="pendientes-body-1">
            <a:extLst>
              <a:ext uri="{FF2B5EF4-FFF2-40B4-BE49-F238E27FC236}">
                <a16:creationId xmlns:a16="http://schemas.microsoft.com/office/drawing/2014/main" id="{9E8298F8-00E2-4058-8E4E-AA4B4C64E8F0}"/>
              </a:ext>
            </a:extLst>
          </p:cNvPr>
          <p:cNvSpPr>
            <a:spLocks noGrp="1"/>
          </p:cNvSpPr>
          <p:nvPr/>
        </p:nvSpPr>
        <p:spPr>
          <a:xfrm>
            <a:off x="20231100" y="2825953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Validar campos CLP y estados incluidos.</a:t>
            </a:r>
          </a:p>
        </p:txBody>
      </p:sp>
      <p:sp>
        <p:nvSpPr>
          <p:cNvPr id="191" name="pendientes-body-2">
            <a:extLst>
              <a:ext uri="{FF2B5EF4-FFF2-40B4-BE49-F238E27FC236}">
                <a16:creationId xmlns:a16="http://schemas.microsoft.com/office/drawing/2014/main" id="{172B9F1F-F168-4FF5-B001-80A9549CEE04}"/>
              </a:ext>
            </a:extLst>
          </p:cNvPr>
          <p:cNvSpPr>
            <a:spLocks noGrp="1"/>
          </p:cNvSpPr>
          <p:nvPr/>
        </p:nvSpPr>
        <p:spPr>
          <a:xfrm>
            <a:off x="20231100" y="28552712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Acordar el tratamiento de faltantes.</a:t>
            </a:r>
          </a:p>
        </p:txBody>
      </p:sp>
      <p:sp>
        <p:nvSpPr>
          <p:cNvPr id="192" name="pendientes-body-3">
            <a:extLst>
              <a:ext uri="{FF2B5EF4-FFF2-40B4-BE49-F238E27FC236}">
                <a16:creationId xmlns:a16="http://schemas.microsoft.com/office/drawing/2014/main" id="{8AEEB83D-3239-4732-B94E-935360D9F9DD}"/>
              </a:ext>
            </a:extLst>
          </p:cNvPr>
          <p:cNvSpPr>
            <a:spLocks noGrp="1"/>
          </p:cNvSpPr>
          <p:nvPr/>
        </p:nvSpPr>
        <p:spPr>
          <a:xfrm>
            <a:off x="20231100" y="28845891"/>
            <a:ext cx="7162800" cy="3291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4017"/>
                </a:solidFill>
                <a:latin typeface="DejaVu Sans"/>
                <a:ea typeface="DejaVu Sans"/>
                <a:cs typeface="DejaVu Sans"/>
              </a:rPr>
              <a:t>Contrastar repeticiones con la fuente.</a:t>
            </a:r>
          </a:p>
        </p:txBody>
      </p:sp>
      <p:sp>
        <p:nvSpPr>
          <p:cNvPr id="193" name="node-readme">
            <a:extLst>
              <a:ext uri="{FF2B5EF4-FFF2-40B4-BE49-F238E27FC236}">
                <a16:creationId xmlns:a16="http://schemas.microsoft.com/office/drawing/2014/main" id="{E4CB9273-1B7E-4DFA-9596-53F7092CC0F2}"/>
              </a:ext>
            </a:extLst>
          </p:cNvPr>
          <p:cNvSpPr>
            <a:spLocks noGrp="1"/>
          </p:cNvSpPr>
          <p:nvPr/>
        </p:nvSpPr>
        <p:spPr>
          <a:xfrm>
            <a:off x="952500" y="34575750"/>
            <a:ext cx="6191250" cy="2381250"/>
          </a:xfrm>
          <a:prstGeom prst="roundRect">
            <a:avLst>
              <a:gd name="adj" fmla="val 4800"/>
            </a:avLst>
          </a:prstGeom>
          <a:solidFill>
            <a:srgbClr val="F2EEFA"/>
          </a:solidFill>
          <a:ln w="22860">
            <a:solidFill>
              <a:srgbClr val="8670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4" name="readme-title-0">
            <a:extLst>
              <a:ext uri="{FF2B5EF4-FFF2-40B4-BE49-F238E27FC236}">
                <a16:creationId xmlns:a16="http://schemas.microsoft.com/office/drawing/2014/main" id="{50F7D510-AFE1-462A-A2B0-87E20DD6BD97}"/>
              </a:ext>
            </a:extLst>
          </p:cNvPr>
          <p:cNvSpPr>
            <a:spLocks noGrp="1"/>
          </p:cNvSpPr>
          <p:nvPr/>
        </p:nvSpPr>
        <p:spPr>
          <a:xfrm>
            <a:off x="1181100" y="34709100"/>
            <a:ext cx="5734050" cy="346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README.md</a:t>
            </a:r>
          </a:p>
        </p:txBody>
      </p:sp>
      <p:sp>
        <p:nvSpPr>
          <p:cNvPr id="195" name="readme-body-0">
            <a:extLst>
              <a:ext uri="{FF2B5EF4-FFF2-40B4-BE49-F238E27FC236}">
                <a16:creationId xmlns:a16="http://schemas.microsoft.com/office/drawing/2014/main" id="{09497E64-AF4F-4AA2-8970-1358BCC3FA8F}"/>
              </a:ext>
            </a:extLst>
          </p:cNvPr>
          <p:cNvSpPr>
            <a:spLocks noGrp="1"/>
          </p:cNvSpPr>
          <p:nvPr/>
        </p:nvSpPr>
        <p:spPr>
          <a:xfrm>
            <a:off x="1181100" y="35078670"/>
            <a:ext cx="57340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Explica el objetivo, la fuente, la versión de</a:t>
            </a:r>
          </a:p>
        </p:txBody>
      </p:sp>
      <p:sp>
        <p:nvSpPr>
          <p:cNvPr id="196" name="readme-body-1">
            <a:extLst>
              <a:ext uri="{FF2B5EF4-FFF2-40B4-BE49-F238E27FC236}">
                <a16:creationId xmlns:a16="http://schemas.microsoft.com/office/drawing/2014/main" id="{04150D83-D844-418F-96E8-E9DF6D4533E0}"/>
              </a:ext>
            </a:extLst>
          </p:cNvPr>
          <p:cNvSpPr>
            <a:spLocks noGrp="1"/>
          </p:cNvSpPr>
          <p:nvPr/>
        </p:nvSpPr>
        <p:spPr>
          <a:xfrm>
            <a:off x="1181100" y="35350133"/>
            <a:ext cx="57340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Python, la instalación y el orden de ejecución.</a:t>
            </a:r>
          </a:p>
        </p:txBody>
      </p:sp>
      <p:sp>
        <p:nvSpPr>
          <p:cNvPr id="197" name="readme-body-2">
            <a:extLst>
              <a:ext uri="{FF2B5EF4-FFF2-40B4-BE49-F238E27FC236}">
                <a16:creationId xmlns:a16="http://schemas.microsoft.com/office/drawing/2014/main" id="{0A63F140-5A94-49CE-8F33-CE4AE7C4BD13}"/>
              </a:ext>
            </a:extLst>
          </p:cNvPr>
          <p:cNvSpPr>
            <a:spLocks noGrp="1"/>
          </p:cNvSpPr>
          <p:nvPr/>
        </p:nvSpPr>
        <p:spPr>
          <a:xfrm>
            <a:off x="1181100" y="35621595"/>
            <a:ext cx="57340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Permite que otro integrante reconstruya el</a:t>
            </a:r>
          </a:p>
        </p:txBody>
      </p:sp>
      <p:sp>
        <p:nvSpPr>
          <p:cNvPr id="198" name="readme-body-3">
            <a:extLst>
              <a:ext uri="{FF2B5EF4-FFF2-40B4-BE49-F238E27FC236}">
                <a16:creationId xmlns:a16="http://schemas.microsoft.com/office/drawing/2014/main" id="{63D03D6A-FC27-4FBD-A036-A1C9C016AA5B}"/>
              </a:ext>
            </a:extLst>
          </p:cNvPr>
          <p:cNvSpPr>
            <a:spLocks noGrp="1"/>
          </p:cNvSpPr>
          <p:nvPr/>
        </p:nvSpPr>
        <p:spPr>
          <a:xfrm>
            <a:off x="1181100" y="35893058"/>
            <a:ext cx="57340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entorno y el análisis.</a:t>
            </a:r>
          </a:p>
        </p:txBody>
      </p:sp>
      <p:sp>
        <p:nvSpPr>
          <p:cNvPr id="199" name="node-diccionario">
            <a:extLst>
              <a:ext uri="{FF2B5EF4-FFF2-40B4-BE49-F238E27FC236}">
                <a16:creationId xmlns:a16="http://schemas.microsoft.com/office/drawing/2014/main" id="{4BCCFDF1-788A-4C6F-A546-5F89A5DF022F}"/>
              </a:ext>
            </a:extLst>
          </p:cNvPr>
          <p:cNvSpPr>
            <a:spLocks noGrp="1"/>
          </p:cNvSpPr>
          <p:nvPr/>
        </p:nvSpPr>
        <p:spPr>
          <a:xfrm>
            <a:off x="7715250" y="34575750"/>
            <a:ext cx="6191250" cy="2381250"/>
          </a:xfrm>
          <a:prstGeom prst="roundRect">
            <a:avLst>
              <a:gd name="adj" fmla="val 4800"/>
            </a:avLst>
          </a:prstGeom>
          <a:solidFill>
            <a:srgbClr val="F2EEFA"/>
          </a:solidFill>
          <a:ln w="22860">
            <a:solidFill>
              <a:srgbClr val="8670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0" name="diccionario-title-0">
            <a:extLst>
              <a:ext uri="{FF2B5EF4-FFF2-40B4-BE49-F238E27FC236}">
                <a16:creationId xmlns:a16="http://schemas.microsoft.com/office/drawing/2014/main" id="{06BE47DF-54FB-47EC-8103-4CF00E425DB3}"/>
              </a:ext>
            </a:extLst>
          </p:cNvPr>
          <p:cNvSpPr>
            <a:spLocks noGrp="1"/>
          </p:cNvSpPr>
          <p:nvPr/>
        </p:nvSpPr>
        <p:spPr>
          <a:xfrm>
            <a:off x="7943850" y="34709100"/>
            <a:ext cx="5734050" cy="346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DICCIONARIO DE VARIABLES</a:t>
            </a:r>
          </a:p>
        </p:txBody>
      </p:sp>
      <p:sp>
        <p:nvSpPr>
          <p:cNvPr id="201" name="diccionario-body-0">
            <a:extLst>
              <a:ext uri="{FF2B5EF4-FFF2-40B4-BE49-F238E27FC236}">
                <a16:creationId xmlns:a16="http://schemas.microsoft.com/office/drawing/2014/main" id="{57124D34-BFAE-410C-9233-F87BE51CB84A}"/>
              </a:ext>
            </a:extLst>
          </p:cNvPr>
          <p:cNvSpPr>
            <a:spLocks noGrp="1"/>
          </p:cNvSpPr>
          <p:nvPr/>
        </p:nvSpPr>
        <p:spPr>
          <a:xfrm>
            <a:off x="7943850" y="35078670"/>
            <a:ext cx="57340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Define significado, tipo, unidad, nivel de</a:t>
            </a:r>
          </a:p>
        </p:txBody>
      </p:sp>
      <p:sp>
        <p:nvSpPr>
          <p:cNvPr id="202" name="diccionario-body-1">
            <a:extLst>
              <a:ext uri="{FF2B5EF4-FFF2-40B4-BE49-F238E27FC236}">
                <a16:creationId xmlns:a16="http://schemas.microsoft.com/office/drawing/2014/main" id="{8A465280-B3ED-4787-B496-E0754B8E706C}"/>
              </a:ext>
            </a:extLst>
          </p:cNvPr>
          <p:cNvSpPr>
            <a:spLocks noGrp="1"/>
          </p:cNvSpPr>
          <p:nvPr/>
        </p:nvSpPr>
        <p:spPr>
          <a:xfrm>
            <a:off x="7943850" y="35350133"/>
            <a:ext cx="57340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observación, faltantes y transformaciones.</a:t>
            </a:r>
          </a:p>
        </p:txBody>
      </p:sp>
      <p:sp>
        <p:nvSpPr>
          <p:cNvPr id="203" name="diccionario-body-2">
            <a:extLst>
              <a:ext uri="{FF2B5EF4-FFF2-40B4-BE49-F238E27FC236}">
                <a16:creationId xmlns:a16="http://schemas.microsoft.com/office/drawing/2014/main" id="{7DA8A790-3832-4D5A-B0D3-C17843C3C07C}"/>
              </a:ext>
            </a:extLst>
          </p:cNvPr>
          <p:cNvSpPr>
            <a:spLocks noGrp="1"/>
          </p:cNvSpPr>
          <p:nvPr/>
        </p:nvSpPr>
        <p:spPr>
          <a:xfrm>
            <a:off x="7943850" y="35621595"/>
            <a:ext cx="57340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Documenta claves y relaciones entre orden,</a:t>
            </a:r>
          </a:p>
        </p:txBody>
      </p:sp>
      <p:sp>
        <p:nvSpPr>
          <p:cNvPr id="204" name="diccionario-body-3">
            <a:extLst>
              <a:ext uri="{FF2B5EF4-FFF2-40B4-BE49-F238E27FC236}">
                <a16:creationId xmlns:a16="http://schemas.microsoft.com/office/drawing/2014/main" id="{EF2490F4-B4D2-4B18-A6F7-D2860EF187D2}"/>
              </a:ext>
            </a:extLst>
          </p:cNvPr>
          <p:cNvSpPr>
            <a:spLocks noGrp="1"/>
          </p:cNvSpPr>
          <p:nvPr/>
        </p:nvSpPr>
        <p:spPr>
          <a:xfrm>
            <a:off x="7943850" y="35893058"/>
            <a:ext cx="57340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ítem, cotización y rubros.</a:t>
            </a:r>
          </a:p>
        </p:txBody>
      </p:sp>
      <p:sp>
        <p:nvSpPr>
          <p:cNvPr id="205" name="node-bitacora">
            <a:extLst>
              <a:ext uri="{FF2B5EF4-FFF2-40B4-BE49-F238E27FC236}">
                <a16:creationId xmlns:a16="http://schemas.microsoft.com/office/drawing/2014/main" id="{23DEBE0A-6E81-4F40-999E-A9368F8858F2}"/>
              </a:ext>
            </a:extLst>
          </p:cNvPr>
          <p:cNvSpPr>
            <a:spLocks noGrp="1"/>
          </p:cNvSpPr>
          <p:nvPr/>
        </p:nvSpPr>
        <p:spPr>
          <a:xfrm>
            <a:off x="14478000" y="34575750"/>
            <a:ext cx="6191250" cy="2381250"/>
          </a:xfrm>
          <a:prstGeom prst="roundRect">
            <a:avLst>
              <a:gd name="adj" fmla="val 4800"/>
            </a:avLst>
          </a:prstGeom>
          <a:solidFill>
            <a:srgbClr val="F2EEFA"/>
          </a:solidFill>
          <a:ln w="22860">
            <a:solidFill>
              <a:srgbClr val="8670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6" name="bitacora-title-0">
            <a:extLst>
              <a:ext uri="{FF2B5EF4-FFF2-40B4-BE49-F238E27FC236}">
                <a16:creationId xmlns:a16="http://schemas.microsoft.com/office/drawing/2014/main" id="{A5901D9A-08A3-44F8-85A5-982AED44C46F}"/>
              </a:ext>
            </a:extLst>
          </p:cNvPr>
          <p:cNvSpPr>
            <a:spLocks noGrp="1"/>
          </p:cNvSpPr>
          <p:nvPr/>
        </p:nvSpPr>
        <p:spPr>
          <a:xfrm>
            <a:off x="14706600" y="34709100"/>
            <a:ext cx="5734050" cy="346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BITÁCORA DE DECISIONES</a:t>
            </a:r>
          </a:p>
        </p:txBody>
      </p:sp>
      <p:sp>
        <p:nvSpPr>
          <p:cNvPr id="207" name="bitacora-body-0">
            <a:extLst>
              <a:ext uri="{FF2B5EF4-FFF2-40B4-BE49-F238E27FC236}">
                <a16:creationId xmlns:a16="http://schemas.microsoft.com/office/drawing/2014/main" id="{A97C9905-7C08-4D07-A212-F22505F3A147}"/>
              </a:ext>
            </a:extLst>
          </p:cNvPr>
          <p:cNvSpPr>
            <a:spLocks noGrp="1"/>
          </p:cNvSpPr>
          <p:nvPr/>
        </p:nvSpPr>
        <p:spPr>
          <a:xfrm>
            <a:off x="14706600" y="35078670"/>
            <a:ext cx="57340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Registra fecha, autor, decisión, motivo y cifras</a:t>
            </a:r>
          </a:p>
        </p:txBody>
      </p:sp>
      <p:sp>
        <p:nvSpPr>
          <p:cNvPr id="208" name="bitacora-body-1">
            <a:extLst>
              <a:ext uri="{FF2B5EF4-FFF2-40B4-BE49-F238E27FC236}">
                <a16:creationId xmlns:a16="http://schemas.microsoft.com/office/drawing/2014/main" id="{59A14A8A-20FA-48A5-AB59-7C7A3B35ECFA}"/>
              </a:ext>
            </a:extLst>
          </p:cNvPr>
          <p:cNvSpPr>
            <a:spLocks noGrp="1"/>
          </p:cNvSpPr>
          <p:nvPr/>
        </p:nvSpPr>
        <p:spPr>
          <a:xfrm>
            <a:off x="14706600" y="35350133"/>
            <a:ext cx="57340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antes/después. Vincula cada decisión con su</a:t>
            </a:r>
          </a:p>
        </p:txBody>
      </p:sp>
      <p:sp>
        <p:nvSpPr>
          <p:cNvPr id="209" name="bitacora-body-2">
            <a:extLst>
              <a:ext uri="{FF2B5EF4-FFF2-40B4-BE49-F238E27FC236}">
                <a16:creationId xmlns:a16="http://schemas.microsoft.com/office/drawing/2014/main" id="{3077B3E2-9315-4461-9CE5-D48CAF50B310}"/>
              </a:ext>
            </a:extLst>
          </p:cNvPr>
          <p:cNvSpPr>
            <a:spLocks noGrp="1"/>
          </p:cNvSpPr>
          <p:nvPr/>
        </p:nvSpPr>
        <p:spPr>
          <a:xfrm>
            <a:off x="14706600" y="35621595"/>
            <a:ext cx="57340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notebook o commit. Ejemplo de evidencia:</a:t>
            </a:r>
          </a:p>
        </p:txBody>
      </p:sp>
      <p:sp>
        <p:nvSpPr>
          <p:cNvPr id="210" name="bitacora-body-3">
            <a:extLst>
              <a:ext uri="{FF2B5EF4-FFF2-40B4-BE49-F238E27FC236}">
                <a16:creationId xmlns:a16="http://schemas.microsoft.com/office/drawing/2014/main" id="{B7794819-4827-4320-A5F4-7D3A97BAF447}"/>
              </a:ext>
            </a:extLst>
          </p:cNvPr>
          <p:cNvSpPr>
            <a:spLocks noGrp="1"/>
          </p:cNvSpPr>
          <p:nvPr/>
        </p:nvSpPr>
        <p:spPr>
          <a:xfrm>
            <a:off x="14706600" y="35893058"/>
            <a:ext cx="57340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11.177 filas y 541 órdenes.</a:t>
            </a:r>
          </a:p>
        </p:txBody>
      </p:sp>
      <p:sp>
        <p:nvSpPr>
          <p:cNvPr id="211" name="node-informe">
            <a:extLst>
              <a:ext uri="{FF2B5EF4-FFF2-40B4-BE49-F238E27FC236}">
                <a16:creationId xmlns:a16="http://schemas.microsoft.com/office/drawing/2014/main" id="{33B1B0EB-54BF-4C09-AA6C-4E0E254D22BE}"/>
              </a:ext>
            </a:extLst>
          </p:cNvPr>
          <p:cNvSpPr>
            <a:spLocks noGrp="1"/>
          </p:cNvSpPr>
          <p:nvPr/>
        </p:nvSpPr>
        <p:spPr>
          <a:xfrm>
            <a:off x="21240750" y="34575750"/>
            <a:ext cx="6381750" cy="2381250"/>
          </a:xfrm>
          <a:prstGeom prst="roundRect">
            <a:avLst>
              <a:gd name="adj" fmla="val 4800"/>
            </a:avLst>
          </a:prstGeom>
          <a:solidFill>
            <a:srgbClr val="F2EEFA"/>
          </a:solidFill>
          <a:ln w="22860">
            <a:solidFill>
              <a:srgbClr val="8670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2" name="informe-title-0">
            <a:extLst>
              <a:ext uri="{FF2B5EF4-FFF2-40B4-BE49-F238E27FC236}">
                <a16:creationId xmlns:a16="http://schemas.microsoft.com/office/drawing/2014/main" id="{06798A6A-C38E-4437-A748-D366376F58F9}"/>
              </a:ext>
            </a:extLst>
          </p:cNvPr>
          <p:cNvSpPr>
            <a:spLocks noGrp="1"/>
          </p:cNvSpPr>
          <p:nvPr/>
        </p:nvSpPr>
        <p:spPr>
          <a:xfrm>
            <a:off x="21469350" y="34709100"/>
            <a:ext cx="5924550" cy="346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INFORME Y FIGURAS</a:t>
            </a:r>
          </a:p>
        </p:txBody>
      </p:sp>
      <p:sp>
        <p:nvSpPr>
          <p:cNvPr id="213" name="informe-body-0">
            <a:extLst>
              <a:ext uri="{FF2B5EF4-FFF2-40B4-BE49-F238E27FC236}">
                <a16:creationId xmlns:a16="http://schemas.microsoft.com/office/drawing/2014/main" id="{AA6B74F6-9862-461C-9BDF-060226D10A1A}"/>
              </a:ext>
            </a:extLst>
          </p:cNvPr>
          <p:cNvSpPr>
            <a:spLocks noGrp="1"/>
          </p:cNvSpPr>
          <p:nvPr/>
        </p:nvSpPr>
        <p:spPr>
          <a:xfrm>
            <a:off x="21469350" y="35078670"/>
            <a:ext cx="59245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Articulan preguntas, métodos, resultados y</a:t>
            </a:r>
          </a:p>
        </p:txBody>
      </p:sp>
      <p:sp>
        <p:nvSpPr>
          <p:cNvPr id="214" name="informe-body-1">
            <a:extLst>
              <a:ext uri="{FF2B5EF4-FFF2-40B4-BE49-F238E27FC236}">
                <a16:creationId xmlns:a16="http://schemas.microsoft.com/office/drawing/2014/main" id="{5E351EA7-6D1D-4167-B894-393246F6EE09}"/>
              </a:ext>
            </a:extLst>
          </p:cNvPr>
          <p:cNvSpPr>
            <a:spLocks noGrp="1"/>
          </p:cNvSpPr>
          <p:nvPr/>
        </p:nvSpPr>
        <p:spPr>
          <a:xfrm>
            <a:off x="21469350" y="35350133"/>
            <a:ext cx="59245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limitaciones. Incorporan el mapa corregido y</a:t>
            </a:r>
          </a:p>
        </p:txBody>
      </p:sp>
      <p:sp>
        <p:nvSpPr>
          <p:cNvPr id="215" name="informe-body-2">
            <a:extLst>
              <a:ext uri="{FF2B5EF4-FFF2-40B4-BE49-F238E27FC236}">
                <a16:creationId xmlns:a16="http://schemas.microsoft.com/office/drawing/2014/main" id="{A88E7257-21BE-4841-BB4A-7C9A5DBA6396}"/>
              </a:ext>
            </a:extLst>
          </p:cNvPr>
          <p:cNvSpPr>
            <a:spLocks noGrp="1"/>
          </p:cNvSpPr>
          <p:nvPr/>
        </p:nvSpPr>
        <p:spPr>
          <a:xfrm>
            <a:off x="21469350" y="35621595"/>
            <a:ext cx="59245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remiten a notebooks ejecutados y a las</a:t>
            </a:r>
          </a:p>
        </p:txBody>
      </p:sp>
      <p:sp>
        <p:nvSpPr>
          <p:cNvPr id="216" name="informe-body-3">
            <a:extLst>
              <a:ext uri="{FF2B5EF4-FFF2-40B4-BE49-F238E27FC236}">
                <a16:creationId xmlns:a16="http://schemas.microsoft.com/office/drawing/2014/main" id="{662044B8-CE25-4363-BD5F-7DADEBAC6433}"/>
              </a:ext>
            </a:extLst>
          </p:cNvPr>
          <p:cNvSpPr>
            <a:spLocks noGrp="1"/>
          </p:cNvSpPr>
          <p:nvPr/>
        </p:nvSpPr>
        <p:spPr>
          <a:xfrm>
            <a:off x="21469350" y="35893058"/>
            <a:ext cx="59245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4315E"/>
                </a:solidFill>
                <a:latin typeface="DejaVu Sans"/>
                <a:ea typeface="DejaVu Sans"/>
                <a:cs typeface="DejaVu Sans"/>
              </a:rPr>
              <a:t>evidencias del repositorio.</a:t>
            </a:r>
          </a:p>
        </p:txBody>
      </p:sp>
      <p:cxnSp>
        <p:nvCxnSpPr>
          <p:cNvPr id="563" name="Conector recto de flecha 562"/>
          <p:cNvCxnSpPr>
            <a:stCxn id="4" idx="2"/>
            <a:endCxn id="9" idx="0"/>
          </p:cNvCxnSpPr>
          <p:nvPr/>
        </p:nvCxnSpPr>
        <p:spPr>
          <a:xfrm>
            <a:off x="14287500" y="4000500"/>
            <a:ext cx="0" cy="857250"/>
          </a:xfrm>
          <a:prstGeom prst="straightConnector1">
            <a:avLst/>
          </a:prstGeom>
          <a:ln w="28575">
            <a:solidFill>
              <a:srgbClr val="3B5463"/>
            </a:solidFill>
            <a:prstDash val="solid"/>
            <a:tailEnd type="triangle" w="med" len="med"/>
          </a:ln>
        </p:spPr>
      </p:cxnSp>
      <p:sp>
        <p:nvSpPr>
          <p:cNvPr id="218" name="relation-0-back">
            <a:extLst>
              <a:ext uri="{FF2B5EF4-FFF2-40B4-BE49-F238E27FC236}">
                <a16:creationId xmlns:a16="http://schemas.microsoft.com/office/drawing/2014/main" id="{45FD7747-E5FE-4000-BD27-B1BA71C3CABC}"/>
              </a:ext>
            </a:extLst>
          </p:cNvPr>
          <p:cNvSpPr>
            <a:spLocks noGrp="1"/>
          </p:cNvSpPr>
          <p:nvPr/>
        </p:nvSpPr>
        <p:spPr>
          <a:xfrm>
            <a:off x="11144250" y="4262438"/>
            <a:ext cx="62865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9" name="relation-0-0">
            <a:extLst>
              <a:ext uri="{FF2B5EF4-FFF2-40B4-BE49-F238E27FC236}">
                <a16:creationId xmlns:a16="http://schemas.microsoft.com/office/drawing/2014/main" id="{36BFB922-9F26-4163-B0CD-1A9537B90EE1}"/>
              </a:ext>
            </a:extLst>
          </p:cNvPr>
          <p:cNvSpPr>
            <a:spLocks noGrp="1"/>
          </p:cNvSpPr>
          <p:nvPr/>
        </p:nvSpPr>
        <p:spPr>
          <a:xfrm>
            <a:off x="11144250" y="4300538"/>
            <a:ext cx="62865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se centra en</a:t>
            </a:r>
          </a:p>
        </p:txBody>
      </p:sp>
      <p:cxnSp>
        <p:nvCxnSpPr>
          <p:cNvPr id="566" name="Conector recto de flecha 565"/>
          <p:cNvCxnSpPr>
            <a:stCxn id="9" idx="2"/>
            <a:endCxn id="14" idx="0"/>
          </p:cNvCxnSpPr>
          <p:nvPr/>
        </p:nvCxnSpPr>
        <p:spPr>
          <a:xfrm>
            <a:off x="14287500" y="6762750"/>
            <a:ext cx="0" cy="857250"/>
          </a:xfrm>
          <a:prstGeom prst="straightConnector1">
            <a:avLst/>
          </a:prstGeom>
          <a:ln w="28575">
            <a:solidFill>
              <a:srgbClr val="3B5463"/>
            </a:solidFill>
            <a:prstDash val="solid"/>
            <a:tailEnd type="triangle" w="med" len="med"/>
          </a:ln>
        </p:spPr>
      </p:cxnSp>
      <p:sp>
        <p:nvSpPr>
          <p:cNvPr id="221" name="relation-1-back">
            <a:extLst>
              <a:ext uri="{FF2B5EF4-FFF2-40B4-BE49-F238E27FC236}">
                <a16:creationId xmlns:a16="http://schemas.microsoft.com/office/drawing/2014/main" id="{D79AEA54-C767-4493-8B70-2840DB7F0796}"/>
              </a:ext>
            </a:extLst>
          </p:cNvPr>
          <p:cNvSpPr>
            <a:spLocks noGrp="1"/>
          </p:cNvSpPr>
          <p:nvPr/>
        </p:nvSpPr>
        <p:spPr>
          <a:xfrm>
            <a:off x="11144250" y="7024688"/>
            <a:ext cx="62865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2" name="relation-1-0">
            <a:extLst>
              <a:ext uri="{FF2B5EF4-FFF2-40B4-BE49-F238E27FC236}">
                <a16:creationId xmlns:a16="http://schemas.microsoft.com/office/drawing/2014/main" id="{27578579-CF1A-475D-AFB0-9A766F21D68B}"/>
              </a:ext>
            </a:extLst>
          </p:cNvPr>
          <p:cNvSpPr>
            <a:spLocks noGrp="1"/>
          </p:cNvSpPr>
          <p:nvPr/>
        </p:nvSpPr>
        <p:spPr>
          <a:xfrm>
            <a:off x="11144250" y="7062788"/>
            <a:ext cx="62865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se estudia con</a:t>
            </a:r>
          </a:p>
        </p:txBody>
      </p:sp>
      <p:cxnSp>
        <p:nvCxnSpPr>
          <p:cNvPr id="569" name="Conector recto de flecha 568"/>
          <p:cNvCxnSpPr>
            <a:stCxn id="14" idx="2"/>
            <a:endCxn id="20" idx="0"/>
          </p:cNvCxnSpPr>
          <p:nvPr/>
        </p:nvCxnSpPr>
        <p:spPr>
          <a:xfrm>
            <a:off x="14287500" y="9620250"/>
            <a:ext cx="0" cy="857250"/>
          </a:xfrm>
          <a:prstGeom prst="straightConnector1">
            <a:avLst/>
          </a:prstGeom>
          <a:ln w="28575">
            <a:solidFill>
              <a:srgbClr val="3B5463"/>
            </a:solidFill>
            <a:prstDash val="solid"/>
            <a:tailEnd type="triangle" w="med" len="med"/>
          </a:ln>
        </p:spPr>
      </p:cxnSp>
      <p:sp>
        <p:nvSpPr>
          <p:cNvPr id="224" name="relation-2-back">
            <a:extLst>
              <a:ext uri="{FF2B5EF4-FFF2-40B4-BE49-F238E27FC236}">
                <a16:creationId xmlns:a16="http://schemas.microsoft.com/office/drawing/2014/main" id="{751BA0CB-4AB1-46F9-A104-A613C9CCE6E0}"/>
              </a:ext>
            </a:extLst>
          </p:cNvPr>
          <p:cNvSpPr>
            <a:spLocks noGrp="1"/>
          </p:cNvSpPr>
          <p:nvPr/>
        </p:nvSpPr>
        <p:spPr>
          <a:xfrm>
            <a:off x="11144250" y="9882188"/>
            <a:ext cx="62865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5" name="relation-2-0">
            <a:extLst>
              <a:ext uri="{FF2B5EF4-FFF2-40B4-BE49-F238E27FC236}">
                <a16:creationId xmlns:a16="http://schemas.microsoft.com/office/drawing/2014/main" id="{F73358CE-B16F-4EF1-8971-B13AC805EDE8}"/>
              </a:ext>
            </a:extLst>
          </p:cNvPr>
          <p:cNvSpPr>
            <a:spLocks noGrp="1"/>
          </p:cNvSpPr>
          <p:nvPr/>
        </p:nvSpPr>
        <p:spPr>
          <a:xfrm>
            <a:off x="11144250" y="9920288"/>
            <a:ext cx="62865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se incorpora mediante</a:t>
            </a:r>
          </a:p>
        </p:txBody>
      </p:sp>
      <p:cxnSp>
        <p:nvCxnSpPr>
          <p:cNvPr id="572" name="Conector recto de flecha 571"/>
          <p:cNvCxnSpPr>
            <a:stCxn id="20" idx="2"/>
            <a:endCxn id="25" idx="0"/>
          </p:cNvCxnSpPr>
          <p:nvPr/>
        </p:nvCxnSpPr>
        <p:spPr>
          <a:xfrm>
            <a:off x="14287500" y="12192000"/>
            <a:ext cx="0" cy="857250"/>
          </a:xfrm>
          <a:prstGeom prst="straightConnector1">
            <a:avLst/>
          </a:prstGeom>
          <a:ln w="28575">
            <a:solidFill>
              <a:srgbClr val="3B5463"/>
            </a:solidFill>
            <a:prstDash val="solid"/>
            <a:tailEnd type="triangle" w="med" len="med"/>
          </a:ln>
        </p:spPr>
      </p:cxnSp>
      <p:sp>
        <p:nvSpPr>
          <p:cNvPr id="227" name="relation-3-back">
            <a:extLst>
              <a:ext uri="{FF2B5EF4-FFF2-40B4-BE49-F238E27FC236}">
                <a16:creationId xmlns:a16="http://schemas.microsoft.com/office/drawing/2014/main" id="{F9777491-24FE-44DB-A05C-E62058743A51}"/>
              </a:ext>
            </a:extLst>
          </p:cNvPr>
          <p:cNvSpPr>
            <a:spLocks noGrp="1"/>
          </p:cNvSpPr>
          <p:nvPr/>
        </p:nvSpPr>
        <p:spPr>
          <a:xfrm>
            <a:off x="11144250" y="12453938"/>
            <a:ext cx="62865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8" name="relation-3-0">
            <a:extLst>
              <a:ext uri="{FF2B5EF4-FFF2-40B4-BE49-F238E27FC236}">
                <a16:creationId xmlns:a16="http://schemas.microsoft.com/office/drawing/2014/main" id="{7ADC0C68-DE12-40CC-8FBA-27722D51E1A0}"/>
              </a:ext>
            </a:extLst>
          </p:cNvPr>
          <p:cNvSpPr>
            <a:spLocks noGrp="1"/>
          </p:cNvSpPr>
          <p:nvPr/>
        </p:nvSpPr>
        <p:spPr>
          <a:xfrm>
            <a:off x="11144250" y="12492038"/>
            <a:ext cx="62865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habilita el</a:t>
            </a:r>
          </a:p>
        </p:txBody>
      </p:sp>
      <p:cxnSp>
        <p:nvCxnSpPr>
          <p:cNvPr id="575" name="Conector recto de flecha 574"/>
          <p:cNvCxnSpPr>
            <a:stCxn id="25" idx="2"/>
            <a:endCxn id="31" idx="0"/>
          </p:cNvCxnSpPr>
          <p:nvPr/>
        </p:nvCxnSpPr>
        <p:spPr>
          <a:xfrm>
            <a:off x="14287500" y="15049500"/>
            <a:ext cx="0" cy="857250"/>
          </a:xfrm>
          <a:prstGeom prst="straightConnector1">
            <a:avLst/>
          </a:prstGeom>
          <a:ln w="28575">
            <a:solidFill>
              <a:srgbClr val="3B5463"/>
            </a:solidFill>
            <a:prstDash val="solid"/>
            <a:tailEnd type="triangle" w="med" len="med"/>
          </a:ln>
        </p:spPr>
      </p:cxnSp>
      <p:sp>
        <p:nvSpPr>
          <p:cNvPr id="230" name="relation-4-back">
            <a:extLst>
              <a:ext uri="{FF2B5EF4-FFF2-40B4-BE49-F238E27FC236}">
                <a16:creationId xmlns:a16="http://schemas.microsoft.com/office/drawing/2014/main" id="{8F207705-93B9-44E7-93DD-967120D8D9B0}"/>
              </a:ext>
            </a:extLst>
          </p:cNvPr>
          <p:cNvSpPr>
            <a:spLocks noGrp="1"/>
          </p:cNvSpPr>
          <p:nvPr/>
        </p:nvSpPr>
        <p:spPr>
          <a:xfrm>
            <a:off x="11144250" y="15311438"/>
            <a:ext cx="62865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1" name="relation-4-0">
            <a:extLst>
              <a:ext uri="{FF2B5EF4-FFF2-40B4-BE49-F238E27FC236}">
                <a16:creationId xmlns:a16="http://schemas.microsoft.com/office/drawing/2014/main" id="{49EE6A7B-8100-41C1-BD3B-A97BFD22E192}"/>
              </a:ext>
            </a:extLst>
          </p:cNvPr>
          <p:cNvSpPr>
            <a:spLocks noGrp="1"/>
          </p:cNvSpPr>
          <p:nvPr/>
        </p:nvSpPr>
        <p:spPr>
          <a:xfrm>
            <a:off x="11144250" y="15349538"/>
            <a:ext cx="62865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fundamenta las reglas de</a:t>
            </a:r>
          </a:p>
        </p:txBody>
      </p:sp>
      <p:cxnSp>
        <p:nvCxnSpPr>
          <p:cNvPr id="578" name="Conector recto de flecha 577"/>
          <p:cNvCxnSpPr>
            <a:stCxn id="31" idx="2"/>
            <a:endCxn id="38" idx="0"/>
          </p:cNvCxnSpPr>
          <p:nvPr/>
        </p:nvCxnSpPr>
        <p:spPr>
          <a:xfrm>
            <a:off x="14287500" y="18097500"/>
            <a:ext cx="0" cy="857250"/>
          </a:xfrm>
          <a:prstGeom prst="straightConnector1">
            <a:avLst/>
          </a:prstGeom>
          <a:ln w="28575">
            <a:solidFill>
              <a:srgbClr val="3B5463"/>
            </a:solidFill>
            <a:prstDash val="solid"/>
            <a:tailEnd type="triangle" w="med" len="med"/>
          </a:ln>
        </p:spPr>
      </p:cxnSp>
      <p:sp>
        <p:nvSpPr>
          <p:cNvPr id="233" name="relation-5-back">
            <a:extLst>
              <a:ext uri="{FF2B5EF4-FFF2-40B4-BE49-F238E27FC236}">
                <a16:creationId xmlns:a16="http://schemas.microsoft.com/office/drawing/2014/main" id="{61C7CF15-0AB8-4BB8-8370-62D22A71AE53}"/>
              </a:ext>
            </a:extLst>
          </p:cNvPr>
          <p:cNvSpPr>
            <a:spLocks noGrp="1"/>
          </p:cNvSpPr>
          <p:nvPr/>
        </p:nvSpPr>
        <p:spPr>
          <a:xfrm>
            <a:off x="11144250" y="18359438"/>
            <a:ext cx="62865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4" name="relation-5-0">
            <a:extLst>
              <a:ext uri="{FF2B5EF4-FFF2-40B4-BE49-F238E27FC236}">
                <a16:creationId xmlns:a16="http://schemas.microsoft.com/office/drawing/2014/main" id="{845771B1-E6A8-467C-ADDE-2E2C4AC78A90}"/>
              </a:ext>
            </a:extLst>
          </p:cNvPr>
          <p:cNvSpPr>
            <a:spLocks noGrp="1"/>
          </p:cNvSpPr>
          <p:nvPr/>
        </p:nvSpPr>
        <p:spPr>
          <a:xfrm>
            <a:off x="11144250" y="18397538"/>
            <a:ext cx="62865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debe superar la</a:t>
            </a:r>
          </a:p>
        </p:txBody>
      </p:sp>
      <p:cxnSp>
        <p:nvCxnSpPr>
          <p:cNvPr id="581" name="Conector recto de flecha 580"/>
          <p:cNvCxnSpPr>
            <a:stCxn id="38" idx="2"/>
            <a:endCxn id="44" idx="0"/>
          </p:cNvCxnSpPr>
          <p:nvPr/>
        </p:nvCxnSpPr>
        <p:spPr>
          <a:xfrm>
            <a:off x="14287500" y="20859750"/>
            <a:ext cx="0" cy="857250"/>
          </a:xfrm>
          <a:prstGeom prst="straightConnector1">
            <a:avLst/>
          </a:prstGeom>
          <a:ln w="28575">
            <a:solidFill>
              <a:srgbClr val="3B5463"/>
            </a:solidFill>
            <a:prstDash val="solid"/>
            <a:tailEnd type="triangle" w="med" len="med"/>
          </a:ln>
        </p:spPr>
      </p:cxnSp>
      <p:sp>
        <p:nvSpPr>
          <p:cNvPr id="236" name="relation-6-back">
            <a:extLst>
              <a:ext uri="{FF2B5EF4-FFF2-40B4-BE49-F238E27FC236}">
                <a16:creationId xmlns:a16="http://schemas.microsoft.com/office/drawing/2014/main" id="{1074A374-4485-4E80-B962-3ECA6C2FC8A8}"/>
              </a:ext>
            </a:extLst>
          </p:cNvPr>
          <p:cNvSpPr>
            <a:spLocks noGrp="1"/>
          </p:cNvSpPr>
          <p:nvPr/>
        </p:nvSpPr>
        <p:spPr>
          <a:xfrm>
            <a:off x="11144250" y="21121688"/>
            <a:ext cx="62865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7" name="relation-6-0">
            <a:extLst>
              <a:ext uri="{FF2B5EF4-FFF2-40B4-BE49-F238E27FC236}">
                <a16:creationId xmlns:a16="http://schemas.microsoft.com/office/drawing/2014/main" id="{094DC46B-A77E-4589-8B73-E88DF4E9B26D}"/>
              </a:ext>
            </a:extLst>
          </p:cNvPr>
          <p:cNvSpPr>
            <a:spLocks noGrp="1"/>
          </p:cNvSpPr>
          <p:nvPr/>
        </p:nvSpPr>
        <p:spPr>
          <a:xfrm>
            <a:off x="11144250" y="21159788"/>
            <a:ext cx="62865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habilita datos confiables para</a:t>
            </a:r>
          </a:p>
        </p:txBody>
      </p:sp>
      <p:cxnSp>
        <p:nvCxnSpPr>
          <p:cNvPr id="584" name="Conector recto de flecha 583"/>
          <p:cNvCxnSpPr>
            <a:stCxn id="44" idx="2"/>
            <a:endCxn id="50" idx="0"/>
          </p:cNvCxnSpPr>
          <p:nvPr/>
        </p:nvCxnSpPr>
        <p:spPr>
          <a:xfrm>
            <a:off x="14287500" y="23907750"/>
            <a:ext cx="0" cy="857250"/>
          </a:xfrm>
          <a:prstGeom prst="straightConnector1">
            <a:avLst/>
          </a:prstGeom>
          <a:ln w="28575">
            <a:solidFill>
              <a:srgbClr val="3B5463"/>
            </a:solidFill>
            <a:prstDash val="solid"/>
            <a:tailEnd type="triangle" w="med" len="med"/>
          </a:ln>
        </p:spPr>
      </p:cxnSp>
      <p:sp>
        <p:nvSpPr>
          <p:cNvPr id="239" name="relation-7-back">
            <a:extLst>
              <a:ext uri="{FF2B5EF4-FFF2-40B4-BE49-F238E27FC236}">
                <a16:creationId xmlns:a16="http://schemas.microsoft.com/office/drawing/2014/main" id="{162AA369-CA7C-4526-85D3-965E54D50AB6}"/>
              </a:ext>
            </a:extLst>
          </p:cNvPr>
          <p:cNvSpPr>
            <a:spLocks noGrp="1"/>
          </p:cNvSpPr>
          <p:nvPr/>
        </p:nvSpPr>
        <p:spPr>
          <a:xfrm>
            <a:off x="11144250" y="24169688"/>
            <a:ext cx="62865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0" name="relation-7-0">
            <a:extLst>
              <a:ext uri="{FF2B5EF4-FFF2-40B4-BE49-F238E27FC236}">
                <a16:creationId xmlns:a16="http://schemas.microsoft.com/office/drawing/2014/main" id="{03221A62-FB4F-433E-9E2E-96F9FCE755B9}"/>
              </a:ext>
            </a:extLst>
          </p:cNvPr>
          <p:cNvSpPr>
            <a:spLocks noGrp="1"/>
          </p:cNvSpPr>
          <p:nvPr/>
        </p:nvSpPr>
        <p:spPr>
          <a:xfrm>
            <a:off x="11144250" y="24207788"/>
            <a:ext cx="62865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genera evidencia para</a:t>
            </a:r>
          </a:p>
        </p:txBody>
      </p:sp>
      <p:cxnSp>
        <p:nvCxnSpPr>
          <p:cNvPr id="587" name="Conector recto de flecha 586"/>
          <p:cNvCxnSpPr>
            <a:stCxn id="50" idx="2"/>
            <a:endCxn id="55" idx="0"/>
          </p:cNvCxnSpPr>
          <p:nvPr/>
        </p:nvCxnSpPr>
        <p:spPr>
          <a:xfrm>
            <a:off x="14287500" y="26574750"/>
            <a:ext cx="0" cy="857250"/>
          </a:xfrm>
          <a:prstGeom prst="straightConnector1">
            <a:avLst/>
          </a:prstGeom>
          <a:ln w="28575">
            <a:solidFill>
              <a:srgbClr val="3B5463"/>
            </a:solidFill>
            <a:prstDash val="solid"/>
            <a:tailEnd type="triangle" w="med" len="med"/>
          </a:ln>
        </p:spPr>
      </p:cxnSp>
      <p:sp>
        <p:nvSpPr>
          <p:cNvPr id="242" name="relation-8-back">
            <a:extLst>
              <a:ext uri="{FF2B5EF4-FFF2-40B4-BE49-F238E27FC236}">
                <a16:creationId xmlns:a16="http://schemas.microsoft.com/office/drawing/2014/main" id="{148C4B9A-3C8B-4CCC-BB73-5EDDFD16E944}"/>
              </a:ext>
            </a:extLst>
          </p:cNvPr>
          <p:cNvSpPr>
            <a:spLocks noGrp="1"/>
          </p:cNvSpPr>
          <p:nvPr/>
        </p:nvSpPr>
        <p:spPr>
          <a:xfrm>
            <a:off x="11144250" y="26836688"/>
            <a:ext cx="62865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3" name="relation-8-0">
            <a:extLst>
              <a:ext uri="{FF2B5EF4-FFF2-40B4-BE49-F238E27FC236}">
                <a16:creationId xmlns:a16="http://schemas.microsoft.com/office/drawing/2014/main" id="{E3B10095-734A-4D5E-9470-4B66875AE035}"/>
              </a:ext>
            </a:extLst>
          </p:cNvPr>
          <p:cNvSpPr>
            <a:spLocks noGrp="1"/>
          </p:cNvSpPr>
          <p:nvPr/>
        </p:nvSpPr>
        <p:spPr>
          <a:xfrm>
            <a:off x="11144250" y="26874788"/>
            <a:ext cx="62865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se comprueba mediante</a:t>
            </a:r>
          </a:p>
        </p:txBody>
      </p:sp>
      <p:cxnSp>
        <p:nvCxnSpPr>
          <p:cNvPr id="590" name="Conector recto de flecha 589"/>
          <p:cNvCxnSpPr>
            <a:stCxn id="55" idx="2"/>
            <a:endCxn id="60" idx="0"/>
          </p:cNvCxnSpPr>
          <p:nvPr/>
        </p:nvCxnSpPr>
        <p:spPr>
          <a:xfrm>
            <a:off x="14287500" y="29432250"/>
            <a:ext cx="0" cy="857250"/>
          </a:xfrm>
          <a:prstGeom prst="straightConnector1">
            <a:avLst/>
          </a:prstGeom>
          <a:ln w="28575">
            <a:solidFill>
              <a:srgbClr val="3B5463"/>
            </a:solidFill>
            <a:prstDash val="solid"/>
            <a:tailEnd type="triangle" w="med" len="med"/>
          </a:ln>
        </p:spPr>
      </p:cxnSp>
      <p:sp>
        <p:nvSpPr>
          <p:cNvPr id="245" name="relation-9-back">
            <a:extLst>
              <a:ext uri="{FF2B5EF4-FFF2-40B4-BE49-F238E27FC236}">
                <a16:creationId xmlns:a16="http://schemas.microsoft.com/office/drawing/2014/main" id="{6BCED4A8-3079-4AA7-8C41-7BB383D5C772}"/>
              </a:ext>
            </a:extLst>
          </p:cNvPr>
          <p:cNvSpPr>
            <a:spLocks noGrp="1"/>
          </p:cNvSpPr>
          <p:nvPr/>
        </p:nvSpPr>
        <p:spPr>
          <a:xfrm>
            <a:off x="11144250" y="29694188"/>
            <a:ext cx="62865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6" name="relation-9-0">
            <a:extLst>
              <a:ext uri="{FF2B5EF4-FFF2-40B4-BE49-F238E27FC236}">
                <a16:creationId xmlns:a16="http://schemas.microsoft.com/office/drawing/2014/main" id="{3F7A6447-118E-4024-9EDA-F8AFA3653477}"/>
              </a:ext>
            </a:extLst>
          </p:cNvPr>
          <p:cNvSpPr>
            <a:spLocks noGrp="1"/>
          </p:cNvSpPr>
          <p:nvPr/>
        </p:nvSpPr>
        <p:spPr>
          <a:xfrm>
            <a:off x="11144250" y="29732288"/>
            <a:ext cx="62865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permite verificar el</a:t>
            </a:r>
          </a:p>
        </p:txBody>
      </p:sp>
      <p:cxnSp>
        <p:nvCxnSpPr>
          <p:cNvPr id="593" name="Conector recto de flecha 592"/>
          <p:cNvCxnSpPr>
            <a:stCxn id="66" idx="3"/>
            <a:endCxn id="4" idx="1"/>
          </p:cNvCxnSpPr>
          <p:nvPr/>
        </p:nvCxnSpPr>
        <p:spPr>
          <a:xfrm>
            <a:off x="8572500" y="3190875"/>
            <a:ext cx="1905000" cy="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248" name="relation-10-back">
            <a:extLst>
              <a:ext uri="{FF2B5EF4-FFF2-40B4-BE49-F238E27FC236}">
                <a16:creationId xmlns:a16="http://schemas.microsoft.com/office/drawing/2014/main" id="{D3F319EF-D0F9-4A48-A2B3-F12A9642D65E}"/>
              </a:ext>
            </a:extLst>
          </p:cNvPr>
          <p:cNvSpPr>
            <a:spLocks noGrp="1"/>
          </p:cNvSpPr>
          <p:nvPr/>
        </p:nvSpPr>
        <p:spPr>
          <a:xfrm>
            <a:off x="8648700" y="2486025"/>
            <a:ext cx="17526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9" name="relation-10-0">
            <a:extLst>
              <a:ext uri="{FF2B5EF4-FFF2-40B4-BE49-F238E27FC236}">
                <a16:creationId xmlns:a16="http://schemas.microsoft.com/office/drawing/2014/main" id="{E51BDEB9-9BD7-4C87-851F-A078B060AFCF}"/>
              </a:ext>
            </a:extLst>
          </p:cNvPr>
          <p:cNvSpPr>
            <a:spLocks noGrp="1"/>
          </p:cNvSpPr>
          <p:nvPr/>
        </p:nvSpPr>
        <p:spPr>
          <a:xfrm>
            <a:off x="8648700" y="2524125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permite</a:t>
            </a:r>
          </a:p>
        </p:txBody>
      </p:sp>
      <p:sp>
        <p:nvSpPr>
          <p:cNvPr id="250" name="relation-10-1">
            <a:extLst>
              <a:ext uri="{FF2B5EF4-FFF2-40B4-BE49-F238E27FC236}">
                <a16:creationId xmlns:a16="http://schemas.microsoft.com/office/drawing/2014/main" id="{20AA9D25-8E50-48B8-AEB3-2C8D9C0B8FD6}"/>
              </a:ext>
            </a:extLst>
          </p:cNvPr>
          <p:cNvSpPr>
            <a:spLocks noGrp="1"/>
          </p:cNvSpPr>
          <p:nvPr/>
        </p:nvSpPr>
        <p:spPr>
          <a:xfrm>
            <a:off x="8648700" y="2781300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ejecutar</a:t>
            </a:r>
          </a:p>
        </p:txBody>
      </p:sp>
      <p:cxnSp>
        <p:nvCxnSpPr>
          <p:cNvPr id="597" name="Conector recto de flecha 596"/>
          <p:cNvCxnSpPr>
            <a:stCxn id="4" idx="3"/>
            <a:endCxn id="133" idx="1"/>
          </p:cNvCxnSpPr>
          <p:nvPr/>
        </p:nvCxnSpPr>
        <p:spPr>
          <a:xfrm>
            <a:off x="18097500" y="3190875"/>
            <a:ext cx="1905000" cy="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252" name="relation-11-back">
            <a:extLst>
              <a:ext uri="{FF2B5EF4-FFF2-40B4-BE49-F238E27FC236}">
                <a16:creationId xmlns:a16="http://schemas.microsoft.com/office/drawing/2014/main" id="{C20BD705-1D55-4D3D-9AAB-8322D44B8626}"/>
              </a:ext>
            </a:extLst>
          </p:cNvPr>
          <p:cNvSpPr>
            <a:spLocks noGrp="1"/>
          </p:cNvSpPr>
          <p:nvPr/>
        </p:nvSpPr>
        <p:spPr>
          <a:xfrm>
            <a:off x="18173700" y="2486025"/>
            <a:ext cx="17526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3" name="relation-11-0">
            <a:extLst>
              <a:ext uri="{FF2B5EF4-FFF2-40B4-BE49-F238E27FC236}">
                <a16:creationId xmlns:a16="http://schemas.microsoft.com/office/drawing/2014/main" id="{44959000-9336-4B9A-8BFB-5C651EF676ED}"/>
              </a:ext>
            </a:extLst>
          </p:cNvPr>
          <p:cNvSpPr>
            <a:spLocks noGrp="1"/>
          </p:cNvSpPr>
          <p:nvPr/>
        </p:nvSpPr>
        <p:spPr>
          <a:xfrm>
            <a:off x="18173700" y="2524125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se fundamenta</a:t>
            </a:r>
          </a:p>
        </p:txBody>
      </p:sp>
      <p:sp>
        <p:nvSpPr>
          <p:cNvPr id="254" name="relation-11-1">
            <a:extLst>
              <a:ext uri="{FF2B5EF4-FFF2-40B4-BE49-F238E27FC236}">
                <a16:creationId xmlns:a16="http://schemas.microsoft.com/office/drawing/2014/main" id="{E327DCA1-1CA6-4023-9617-327A6A9889B5}"/>
              </a:ext>
            </a:extLst>
          </p:cNvPr>
          <p:cNvSpPr>
            <a:spLocks noGrp="1"/>
          </p:cNvSpPr>
          <p:nvPr/>
        </p:nvSpPr>
        <p:spPr>
          <a:xfrm>
            <a:off x="18173700" y="2781300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en</a:t>
            </a:r>
          </a:p>
        </p:txBody>
      </p:sp>
      <p:cxnSp>
        <p:nvCxnSpPr>
          <p:cNvPr id="601" name="Conector recto de flecha 600"/>
          <p:cNvCxnSpPr>
            <a:stCxn id="9" idx="1"/>
            <a:endCxn id="71" idx="3"/>
          </p:cNvCxnSpPr>
          <p:nvPr/>
        </p:nvCxnSpPr>
        <p:spPr>
          <a:xfrm flipH="1">
            <a:off x="8572500" y="5810250"/>
            <a:ext cx="1905000" cy="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256" name="relation-12-back">
            <a:extLst>
              <a:ext uri="{FF2B5EF4-FFF2-40B4-BE49-F238E27FC236}">
                <a16:creationId xmlns:a16="http://schemas.microsoft.com/office/drawing/2014/main" id="{86CDB504-48B5-4B35-B8AE-6D5D72B4CFF9}"/>
              </a:ext>
            </a:extLst>
          </p:cNvPr>
          <p:cNvSpPr>
            <a:spLocks noGrp="1"/>
          </p:cNvSpPr>
          <p:nvPr/>
        </p:nvSpPr>
        <p:spPr>
          <a:xfrm>
            <a:off x="8648700" y="5362575"/>
            <a:ext cx="17526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7" name="relation-12-0">
            <a:extLst>
              <a:ext uri="{FF2B5EF4-FFF2-40B4-BE49-F238E27FC236}">
                <a16:creationId xmlns:a16="http://schemas.microsoft.com/office/drawing/2014/main" id="{DFC63B10-8841-4B8A-9A58-7CAA95352B0A}"/>
              </a:ext>
            </a:extLst>
          </p:cNvPr>
          <p:cNvSpPr>
            <a:spLocks noGrp="1"/>
          </p:cNvSpPr>
          <p:nvPr/>
        </p:nvSpPr>
        <p:spPr>
          <a:xfrm>
            <a:off x="8648700" y="5400675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se desglosa en</a:t>
            </a:r>
          </a:p>
        </p:txBody>
      </p:sp>
      <p:cxnSp>
        <p:nvCxnSpPr>
          <p:cNvPr id="604" name="Conector recto de flecha 603"/>
          <p:cNvCxnSpPr>
            <a:stCxn id="9" idx="3"/>
            <a:endCxn id="138" idx="1"/>
          </p:cNvCxnSpPr>
          <p:nvPr/>
        </p:nvCxnSpPr>
        <p:spPr>
          <a:xfrm>
            <a:off x="18097500" y="5810250"/>
            <a:ext cx="1905000" cy="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259" name="relation-13-back">
            <a:extLst>
              <a:ext uri="{FF2B5EF4-FFF2-40B4-BE49-F238E27FC236}">
                <a16:creationId xmlns:a16="http://schemas.microsoft.com/office/drawing/2014/main" id="{579F62F2-A62E-46AD-A623-178868210BAB}"/>
              </a:ext>
            </a:extLst>
          </p:cNvPr>
          <p:cNvSpPr>
            <a:spLocks noGrp="1"/>
          </p:cNvSpPr>
          <p:nvPr/>
        </p:nvSpPr>
        <p:spPr>
          <a:xfrm>
            <a:off x="18173700" y="5105400"/>
            <a:ext cx="17526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0" name="relation-13-0">
            <a:extLst>
              <a:ext uri="{FF2B5EF4-FFF2-40B4-BE49-F238E27FC236}">
                <a16:creationId xmlns:a16="http://schemas.microsoft.com/office/drawing/2014/main" id="{9386EF96-15B5-4632-AA19-8992FD396B5E}"/>
              </a:ext>
            </a:extLst>
          </p:cNvPr>
          <p:cNvSpPr>
            <a:spLocks noGrp="1"/>
          </p:cNvSpPr>
          <p:nvPr/>
        </p:nvSpPr>
        <p:spPr>
          <a:xfrm>
            <a:off x="18173700" y="5143500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se delimita</a:t>
            </a:r>
          </a:p>
        </p:txBody>
      </p:sp>
      <p:sp>
        <p:nvSpPr>
          <p:cNvPr id="261" name="relation-13-1">
            <a:extLst>
              <a:ext uri="{FF2B5EF4-FFF2-40B4-BE49-F238E27FC236}">
                <a16:creationId xmlns:a16="http://schemas.microsoft.com/office/drawing/2014/main" id="{263961F6-41EB-48D7-9D89-EF8E6AA390D9}"/>
              </a:ext>
            </a:extLst>
          </p:cNvPr>
          <p:cNvSpPr>
            <a:spLocks noGrp="1"/>
          </p:cNvSpPr>
          <p:nvPr/>
        </p:nvSpPr>
        <p:spPr>
          <a:xfrm>
            <a:off x="18173700" y="5400675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por</a:t>
            </a:r>
          </a:p>
        </p:txBody>
      </p:sp>
      <p:cxnSp>
        <p:nvCxnSpPr>
          <p:cNvPr id="608" name="Conector recto de flecha 607"/>
          <p:cNvCxnSpPr>
            <a:stCxn id="14" idx="1"/>
            <a:endCxn id="77" idx="3"/>
          </p:cNvCxnSpPr>
          <p:nvPr/>
        </p:nvCxnSpPr>
        <p:spPr>
          <a:xfrm flipH="1">
            <a:off x="8572500" y="8620125"/>
            <a:ext cx="1905000" cy="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263" name="relation-14-back">
            <a:extLst>
              <a:ext uri="{FF2B5EF4-FFF2-40B4-BE49-F238E27FC236}">
                <a16:creationId xmlns:a16="http://schemas.microsoft.com/office/drawing/2014/main" id="{3B00C3CB-8DFB-4315-8763-5AF3CAE03BEC}"/>
              </a:ext>
            </a:extLst>
          </p:cNvPr>
          <p:cNvSpPr>
            <a:spLocks noGrp="1"/>
          </p:cNvSpPr>
          <p:nvPr/>
        </p:nvSpPr>
        <p:spPr>
          <a:xfrm>
            <a:off x="8648700" y="8172450"/>
            <a:ext cx="17526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4" name="relation-14-0">
            <a:extLst>
              <a:ext uri="{FF2B5EF4-FFF2-40B4-BE49-F238E27FC236}">
                <a16:creationId xmlns:a16="http://schemas.microsoft.com/office/drawing/2014/main" id="{2F91EE0D-E0CD-469B-881A-9C3D26ACF1CE}"/>
              </a:ext>
            </a:extLst>
          </p:cNvPr>
          <p:cNvSpPr>
            <a:spLocks noGrp="1"/>
          </p:cNvSpPr>
          <p:nvPr/>
        </p:nvSpPr>
        <p:spPr>
          <a:xfrm>
            <a:off x="8648700" y="8210550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proviene de</a:t>
            </a:r>
          </a:p>
        </p:txBody>
      </p:sp>
      <p:cxnSp>
        <p:nvCxnSpPr>
          <p:cNvPr id="611" name="Conector recto de flecha 610"/>
          <p:cNvCxnSpPr>
            <a:stCxn id="14" idx="3"/>
            <a:endCxn id="144" idx="1"/>
          </p:cNvCxnSpPr>
          <p:nvPr/>
        </p:nvCxnSpPr>
        <p:spPr>
          <a:xfrm>
            <a:off x="18097500" y="8620125"/>
            <a:ext cx="1905000" cy="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266" name="relation-15-back">
            <a:extLst>
              <a:ext uri="{FF2B5EF4-FFF2-40B4-BE49-F238E27FC236}">
                <a16:creationId xmlns:a16="http://schemas.microsoft.com/office/drawing/2014/main" id="{846E9362-ECC5-4A0D-85F4-D48A370CAA99}"/>
              </a:ext>
            </a:extLst>
          </p:cNvPr>
          <p:cNvSpPr>
            <a:spLocks noGrp="1"/>
          </p:cNvSpPr>
          <p:nvPr/>
        </p:nvSpPr>
        <p:spPr>
          <a:xfrm>
            <a:off x="18173700" y="7915275"/>
            <a:ext cx="17526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7" name="relation-15-0">
            <a:extLst>
              <a:ext uri="{FF2B5EF4-FFF2-40B4-BE49-F238E27FC236}">
                <a16:creationId xmlns:a16="http://schemas.microsoft.com/office/drawing/2014/main" id="{CF749C1F-5CCF-42D5-AC55-BCF544DAAE80}"/>
              </a:ext>
            </a:extLst>
          </p:cNvPr>
          <p:cNvSpPr>
            <a:spLocks noGrp="1"/>
          </p:cNvSpPr>
          <p:nvPr/>
        </p:nvSpPr>
        <p:spPr>
          <a:xfrm>
            <a:off x="18173700" y="7953375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exige</a:t>
            </a:r>
          </a:p>
        </p:txBody>
      </p:sp>
      <p:sp>
        <p:nvSpPr>
          <p:cNvPr id="268" name="relation-15-1">
            <a:extLst>
              <a:ext uri="{FF2B5EF4-FFF2-40B4-BE49-F238E27FC236}">
                <a16:creationId xmlns:a16="http://schemas.microsoft.com/office/drawing/2014/main" id="{96591FE6-4FBB-47C1-BA6D-DCF94B7E0742}"/>
              </a:ext>
            </a:extLst>
          </p:cNvPr>
          <p:cNvSpPr>
            <a:spLocks noGrp="1"/>
          </p:cNvSpPr>
          <p:nvPr/>
        </p:nvSpPr>
        <p:spPr>
          <a:xfrm>
            <a:off x="18173700" y="8210550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distinguir</a:t>
            </a:r>
          </a:p>
        </p:txBody>
      </p:sp>
      <p:cxnSp>
        <p:nvCxnSpPr>
          <p:cNvPr id="615" name="Conector recto de flecha 614"/>
          <p:cNvCxnSpPr>
            <a:stCxn id="83" idx="3"/>
            <a:endCxn id="20" idx="1"/>
          </p:cNvCxnSpPr>
          <p:nvPr/>
        </p:nvCxnSpPr>
        <p:spPr>
          <a:xfrm>
            <a:off x="8572500" y="11334750"/>
            <a:ext cx="1905000" cy="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270" name="relation-16-back">
            <a:extLst>
              <a:ext uri="{FF2B5EF4-FFF2-40B4-BE49-F238E27FC236}">
                <a16:creationId xmlns:a16="http://schemas.microsoft.com/office/drawing/2014/main" id="{B93EEAF3-777A-4AE9-A136-E6BBAF1B362B}"/>
              </a:ext>
            </a:extLst>
          </p:cNvPr>
          <p:cNvSpPr>
            <a:spLocks noGrp="1"/>
          </p:cNvSpPr>
          <p:nvPr/>
        </p:nvSpPr>
        <p:spPr>
          <a:xfrm>
            <a:off x="8648700" y="10887075"/>
            <a:ext cx="17526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1" name="relation-16-0">
            <a:extLst>
              <a:ext uri="{FF2B5EF4-FFF2-40B4-BE49-F238E27FC236}">
                <a16:creationId xmlns:a16="http://schemas.microsoft.com/office/drawing/2014/main" id="{59F25DCE-9AEC-4EB1-88A1-1152D8A76E7D}"/>
              </a:ext>
            </a:extLst>
          </p:cNvPr>
          <p:cNvSpPr>
            <a:spLocks noGrp="1"/>
          </p:cNvSpPr>
          <p:nvPr/>
        </p:nvSpPr>
        <p:spPr>
          <a:xfrm>
            <a:off x="8648700" y="10925175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implementa la</a:t>
            </a:r>
          </a:p>
        </p:txBody>
      </p:sp>
      <p:cxnSp>
        <p:nvCxnSpPr>
          <p:cNvPr id="618" name="Conector recto de flecha 617"/>
          <p:cNvCxnSpPr>
            <a:stCxn id="20" idx="3"/>
            <a:endCxn id="150" idx="1"/>
          </p:cNvCxnSpPr>
          <p:nvPr/>
        </p:nvCxnSpPr>
        <p:spPr>
          <a:xfrm>
            <a:off x="18097500" y="11334750"/>
            <a:ext cx="1905000" cy="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273" name="relation-17-back">
            <a:extLst>
              <a:ext uri="{FF2B5EF4-FFF2-40B4-BE49-F238E27FC236}">
                <a16:creationId xmlns:a16="http://schemas.microsoft.com/office/drawing/2014/main" id="{1CEDB889-D695-4912-BB60-6CBA37482CC8}"/>
              </a:ext>
            </a:extLst>
          </p:cNvPr>
          <p:cNvSpPr>
            <a:spLocks noGrp="1"/>
          </p:cNvSpPr>
          <p:nvPr/>
        </p:nvSpPr>
        <p:spPr>
          <a:xfrm>
            <a:off x="18173700" y="10887075"/>
            <a:ext cx="17526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4" name="relation-17-0">
            <a:extLst>
              <a:ext uri="{FF2B5EF4-FFF2-40B4-BE49-F238E27FC236}">
                <a16:creationId xmlns:a16="http://schemas.microsoft.com/office/drawing/2014/main" id="{BCF4B207-4635-45B3-9BCB-64ACB3E0041A}"/>
              </a:ext>
            </a:extLst>
          </p:cNvPr>
          <p:cNvSpPr>
            <a:spLocks noGrp="1"/>
          </p:cNvSpPr>
          <p:nvPr/>
        </p:nvSpPr>
        <p:spPr>
          <a:xfrm>
            <a:off x="18173700" y="10925175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requiere una</a:t>
            </a:r>
          </a:p>
        </p:txBody>
      </p:sp>
      <p:cxnSp>
        <p:nvCxnSpPr>
          <p:cNvPr id="621" name="Conector recto de flecha 620"/>
          <p:cNvCxnSpPr>
            <a:stCxn id="88" idx="3"/>
            <a:endCxn id="25" idx="1"/>
          </p:cNvCxnSpPr>
          <p:nvPr/>
        </p:nvCxnSpPr>
        <p:spPr>
          <a:xfrm>
            <a:off x="8572500" y="14049375"/>
            <a:ext cx="1905000" cy="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276" name="relation-18-back">
            <a:extLst>
              <a:ext uri="{FF2B5EF4-FFF2-40B4-BE49-F238E27FC236}">
                <a16:creationId xmlns:a16="http://schemas.microsoft.com/office/drawing/2014/main" id="{7B9FCD8C-4D6D-4AFF-8C60-D3283ABC576A}"/>
              </a:ext>
            </a:extLst>
          </p:cNvPr>
          <p:cNvSpPr>
            <a:spLocks noGrp="1"/>
          </p:cNvSpPr>
          <p:nvPr/>
        </p:nvSpPr>
        <p:spPr>
          <a:xfrm>
            <a:off x="8648700" y="13601700"/>
            <a:ext cx="17526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7" name="relation-18-0">
            <a:extLst>
              <a:ext uri="{FF2B5EF4-FFF2-40B4-BE49-F238E27FC236}">
                <a16:creationId xmlns:a16="http://schemas.microsoft.com/office/drawing/2014/main" id="{97F4AA43-29B9-43FD-B38E-7624391A7D46}"/>
              </a:ext>
            </a:extLst>
          </p:cNvPr>
          <p:cNvSpPr>
            <a:spLocks noGrp="1"/>
          </p:cNvSpPr>
          <p:nvPr/>
        </p:nvSpPr>
        <p:spPr>
          <a:xfrm>
            <a:off x="8648700" y="13639800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documenta el</a:t>
            </a:r>
          </a:p>
        </p:txBody>
      </p:sp>
      <p:cxnSp>
        <p:nvCxnSpPr>
          <p:cNvPr id="624" name="Conector recto de flecha 623"/>
          <p:cNvCxnSpPr>
            <a:stCxn id="25" idx="3"/>
            <a:endCxn id="155" idx="1"/>
          </p:cNvCxnSpPr>
          <p:nvPr/>
        </p:nvCxnSpPr>
        <p:spPr>
          <a:xfrm>
            <a:off x="18097500" y="14049375"/>
            <a:ext cx="1905000" cy="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279" name="relation-19-back">
            <a:extLst>
              <a:ext uri="{FF2B5EF4-FFF2-40B4-BE49-F238E27FC236}">
                <a16:creationId xmlns:a16="http://schemas.microsoft.com/office/drawing/2014/main" id="{A7903560-63C1-48D4-AC18-74582C382653}"/>
              </a:ext>
            </a:extLst>
          </p:cNvPr>
          <p:cNvSpPr>
            <a:spLocks noGrp="1"/>
          </p:cNvSpPr>
          <p:nvPr/>
        </p:nvSpPr>
        <p:spPr>
          <a:xfrm>
            <a:off x="18173700" y="13601700"/>
            <a:ext cx="17526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0" name="relation-19-0">
            <a:extLst>
              <a:ext uri="{FF2B5EF4-FFF2-40B4-BE49-F238E27FC236}">
                <a16:creationId xmlns:a16="http://schemas.microsoft.com/office/drawing/2014/main" id="{1250ED27-E4BB-484C-8CC4-DDC4BA25C418}"/>
              </a:ext>
            </a:extLst>
          </p:cNvPr>
          <p:cNvSpPr>
            <a:spLocks noGrp="1"/>
          </p:cNvSpPr>
          <p:nvPr/>
        </p:nvSpPr>
        <p:spPr>
          <a:xfrm>
            <a:off x="18173700" y="13639800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cuantifica los</a:t>
            </a:r>
          </a:p>
        </p:txBody>
      </p:sp>
      <p:cxnSp>
        <p:nvCxnSpPr>
          <p:cNvPr id="627" name="Conector recto de flecha 626"/>
          <p:cNvCxnSpPr>
            <a:stCxn id="94" idx="3"/>
            <a:endCxn id="31" idx="1"/>
          </p:cNvCxnSpPr>
          <p:nvPr/>
        </p:nvCxnSpPr>
        <p:spPr>
          <a:xfrm>
            <a:off x="8572500" y="17002125"/>
            <a:ext cx="1905000" cy="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282" name="relation-20-back">
            <a:extLst>
              <a:ext uri="{FF2B5EF4-FFF2-40B4-BE49-F238E27FC236}">
                <a16:creationId xmlns:a16="http://schemas.microsoft.com/office/drawing/2014/main" id="{2AEEEA06-E70A-4392-82E1-686EA1CF862B}"/>
              </a:ext>
            </a:extLst>
          </p:cNvPr>
          <p:cNvSpPr>
            <a:spLocks noGrp="1"/>
          </p:cNvSpPr>
          <p:nvPr/>
        </p:nvSpPr>
        <p:spPr>
          <a:xfrm>
            <a:off x="8648700" y="16554450"/>
            <a:ext cx="17526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3" name="relation-20-0">
            <a:extLst>
              <a:ext uri="{FF2B5EF4-FFF2-40B4-BE49-F238E27FC236}">
                <a16:creationId xmlns:a16="http://schemas.microsoft.com/office/drawing/2014/main" id="{F42CD522-6202-480F-9A28-F386D2F5DDA4}"/>
              </a:ext>
            </a:extLst>
          </p:cNvPr>
          <p:cNvSpPr>
            <a:spLocks noGrp="1"/>
          </p:cNvSpPr>
          <p:nvPr/>
        </p:nvSpPr>
        <p:spPr>
          <a:xfrm>
            <a:off x="8648700" y="16592550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versiona la</a:t>
            </a:r>
          </a:p>
        </p:txBody>
      </p:sp>
      <p:cxnSp>
        <p:nvCxnSpPr>
          <p:cNvPr id="630" name="Conector recto de flecha 629"/>
          <p:cNvCxnSpPr>
            <a:stCxn id="31" idx="3"/>
            <a:endCxn id="161" idx="1"/>
          </p:cNvCxnSpPr>
          <p:nvPr/>
        </p:nvCxnSpPr>
        <p:spPr>
          <a:xfrm>
            <a:off x="18097500" y="17002125"/>
            <a:ext cx="1905000" cy="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285" name="relation-21-back">
            <a:extLst>
              <a:ext uri="{FF2B5EF4-FFF2-40B4-BE49-F238E27FC236}">
                <a16:creationId xmlns:a16="http://schemas.microsoft.com/office/drawing/2014/main" id="{7B116FFB-2404-4495-A2CD-DB9D70895599}"/>
              </a:ext>
            </a:extLst>
          </p:cNvPr>
          <p:cNvSpPr>
            <a:spLocks noGrp="1"/>
          </p:cNvSpPr>
          <p:nvPr/>
        </p:nvSpPr>
        <p:spPr>
          <a:xfrm>
            <a:off x="18173700" y="16554450"/>
            <a:ext cx="17526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6" name="relation-21-0">
            <a:extLst>
              <a:ext uri="{FF2B5EF4-FFF2-40B4-BE49-F238E27FC236}">
                <a16:creationId xmlns:a16="http://schemas.microsoft.com/office/drawing/2014/main" id="{E55783A7-7E64-42EA-8B2E-B79ED0CDAFC1}"/>
              </a:ext>
            </a:extLst>
          </p:cNvPr>
          <p:cNvSpPr>
            <a:spLocks noGrp="1"/>
          </p:cNvSpPr>
          <p:nvPr/>
        </p:nvSpPr>
        <p:spPr>
          <a:xfrm>
            <a:off x="18173700" y="16592550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debe conciliar</a:t>
            </a:r>
          </a:p>
        </p:txBody>
      </p:sp>
      <p:cxnSp>
        <p:nvCxnSpPr>
          <p:cNvPr id="633" name="Conector recto de flecha 632"/>
          <p:cNvCxnSpPr>
            <a:stCxn id="38" idx="3"/>
            <a:endCxn id="168" idx="1"/>
          </p:cNvCxnSpPr>
          <p:nvPr/>
        </p:nvCxnSpPr>
        <p:spPr>
          <a:xfrm>
            <a:off x="18097500" y="19907250"/>
            <a:ext cx="1905000" cy="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288" name="relation-22-back">
            <a:extLst>
              <a:ext uri="{FF2B5EF4-FFF2-40B4-BE49-F238E27FC236}">
                <a16:creationId xmlns:a16="http://schemas.microsoft.com/office/drawing/2014/main" id="{694A6FEA-60F3-4173-9505-7D9760596319}"/>
              </a:ext>
            </a:extLst>
          </p:cNvPr>
          <p:cNvSpPr>
            <a:spLocks noGrp="1"/>
          </p:cNvSpPr>
          <p:nvPr/>
        </p:nvSpPr>
        <p:spPr>
          <a:xfrm>
            <a:off x="18173700" y="19459575"/>
            <a:ext cx="17526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9" name="relation-22-0">
            <a:extLst>
              <a:ext uri="{FF2B5EF4-FFF2-40B4-BE49-F238E27FC236}">
                <a16:creationId xmlns:a16="http://schemas.microsoft.com/office/drawing/2014/main" id="{CC16859D-7574-427F-BCD7-E60F6217EC49}"/>
              </a:ext>
            </a:extLst>
          </p:cNvPr>
          <p:cNvSpPr>
            <a:spLocks noGrp="1"/>
          </p:cNvSpPr>
          <p:nvPr/>
        </p:nvSpPr>
        <p:spPr>
          <a:xfrm>
            <a:off x="18173700" y="19497675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sustenta la</a:t>
            </a:r>
          </a:p>
        </p:txBody>
      </p:sp>
      <p:cxnSp>
        <p:nvCxnSpPr>
          <p:cNvPr id="636" name="Conector recto de flecha 635"/>
          <p:cNvCxnSpPr>
            <a:stCxn id="44" idx="3"/>
            <a:endCxn id="174" idx="1"/>
          </p:cNvCxnSpPr>
          <p:nvPr/>
        </p:nvCxnSpPr>
        <p:spPr>
          <a:xfrm>
            <a:off x="18097500" y="22812375"/>
            <a:ext cx="1905000" cy="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291" name="relation-23-back">
            <a:extLst>
              <a:ext uri="{FF2B5EF4-FFF2-40B4-BE49-F238E27FC236}">
                <a16:creationId xmlns:a16="http://schemas.microsoft.com/office/drawing/2014/main" id="{84BC534A-C4ED-4ACA-A21C-B3A3FEE391EE}"/>
              </a:ext>
            </a:extLst>
          </p:cNvPr>
          <p:cNvSpPr>
            <a:spLocks noGrp="1"/>
          </p:cNvSpPr>
          <p:nvPr/>
        </p:nvSpPr>
        <p:spPr>
          <a:xfrm>
            <a:off x="18173700" y="22107525"/>
            <a:ext cx="17526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2" name="relation-23-0">
            <a:extLst>
              <a:ext uri="{FF2B5EF4-FFF2-40B4-BE49-F238E27FC236}">
                <a16:creationId xmlns:a16="http://schemas.microsoft.com/office/drawing/2014/main" id="{5FCA54F9-3CB1-45D0-B905-D1D601254B4A}"/>
              </a:ext>
            </a:extLst>
          </p:cNvPr>
          <p:cNvSpPr>
            <a:spLocks noGrp="1"/>
          </p:cNvSpPr>
          <p:nvPr/>
        </p:nvSpPr>
        <p:spPr>
          <a:xfrm>
            <a:off x="18173700" y="22145625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debe</a:t>
            </a:r>
          </a:p>
        </p:txBody>
      </p:sp>
      <p:sp>
        <p:nvSpPr>
          <p:cNvPr id="293" name="relation-23-1">
            <a:extLst>
              <a:ext uri="{FF2B5EF4-FFF2-40B4-BE49-F238E27FC236}">
                <a16:creationId xmlns:a16="http://schemas.microsoft.com/office/drawing/2014/main" id="{3AF4A6D1-3358-447A-A34A-370B0207F548}"/>
              </a:ext>
            </a:extLst>
          </p:cNvPr>
          <p:cNvSpPr>
            <a:spLocks noGrp="1"/>
          </p:cNvSpPr>
          <p:nvPr/>
        </p:nvSpPr>
        <p:spPr>
          <a:xfrm>
            <a:off x="18173700" y="22402800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considerar</a:t>
            </a:r>
          </a:p>
        </p:txBody>
      </p:sp>
      <p:cxnSp>
        <p:nvCxnSpPr>
          <p:cNvPr id="640" name="Conector recto de flecha 639"/>
          <p:cNvCxnSpPr>
            <a:stCxn id="50" idx="3"/>
            <a:endCxn id="181" idx="1"/>
          </p:cNvCxnSpPr>
          <p:nvPr/>
        </p:nvCxnSpPr>
        <p:spPr>
          <a:xfrm>
            <a:off x="18097500" y="25669875"/>
            <a:ext cx="1905000" cy="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295" name="relation-24-back">
            <a:extLst>
              <a:ext uri="{FF2B5EF4-FFF2-40B4-BE49-F238E27FC236}">
                <a16:creationId xmlns:a16="http://schemas.microsoft.com/office/drawing/2014/main" id="{408B1D7F-EB6D-4BC3-8F23-0A8638D30D13}"/>
              </a:ext>
            </a:extLst>
          </p:cNvPr>
          <p:cNvSpPr>
            <a:spLocks noGrp="1"/>
          </p:cNvSpPr>
          <p:nvPr/>
        </p:nvSpPr>
        <p:spPr>
          <a:xfrm>
            <a:off x="18173700" y="24965025"/>
            <a:ext cx="17526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6" name="relation-24-0">
            <a:extLst>
              <a:ext uri="{FF2B5EF4-FFF2-40B4-BE49-F238E27FC236}">
                <a16:creationId xmlns:a16="http://schemas.microsoft.com/office/drawing/2014/main" id="{2D25935C-10D1-482A-B97F-E9C4E7D0EFA4}"/>
              </a:ext>
            </a:extLst>
          </p:cNvPr>
          <p:cNvSpPr>
            <a:spLocks noGrp="1"/>
          </p:cNvSpPr>
          <p:nvPr/>
        </p:nvSpPr>
        <p:spPr>
          <a:xfrm>
            <a:off x="18173700" y="25003125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contextualiza</a:t>
            </a:r>
          </a:p>
        </p:txBody>
      </p:sp>
      <p:sp>
        <p:nvSpPr>
          <p:cNvPr id="297" name="relation-24-1">
            <a:extLst>
              <a:ext uri="{FF2B5EF4-FFF2-40B4-BE49-F238E27FC236}">
                <a16:creationId xmlns:a16="http://schemas.microsoft.com/office/drawing/2014/main" id="{4966ED89-2ABF-4A09-A49F-0D1D32F2CF60}"/>
              </a:ext>
            </a:extLst>
          </p:cNvPr>
          <p:cNvSpPr>
            <a:spLocks noGrp="1"/>
          </p:cNvSpPr>
          <p:nvPr/>
        </p:nvSpPr>
        <p:spPr>
          <a:xfrm>
            <a:off x="18173700" y="25260300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los</a:t>
            </a:r>
          </a:p>
        </p:txBody>
      </p:sp>
      <p:cxnSp>
        <p:nvCxnSpPr>
          <p:cNvPr id="644" name="Conector recto de flecha 643"/>
          <p:cNvCxnSpPr>
            <a:stCxn id="55" idx="3"/>
            <a:endCxn id="187" idx="1"/>
          </p:cNvCxnSpPr>
          <p:nvPr/>
        </p:nvCxnSpPr>
        <p:spPr>
          <a:xfrm>
            <a:off x="18097500" y="28432125"/>
            <a:ext cx="1905000" cy="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299" name="relation-25-back">
            <a:extLst>
              <a:ext uri="{FF2B5EF4-FFF2-40B4-BE49-F238E27FC236}">
                <a16:creationId xmlns:a16="http://schemas.microsoft.com/office/drawing/2014/main" id="{0D03AF39-4E42-4F07-88D7-475A7FB8A616}"/>
              </a:ext>
            </a:extLst>
          </p:cNvPr>
          <p:cNvSpPr>
            <a:spLocks noGrp="1"/>
          </p:cNvSpPr>
          <p:nvPr/>
        </p:nvSpPr>
        <p:spPr>
          <a:xfrm>
            <a:off x="18173700" y="27727275"/>
            <a:ext cx="17526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0" name="relation-25-0">
            <a:extLst>
              <a:ext uri="{FF2B5EF4-FFF2-40B4-BE49-F238E27FC236}">
                <a16:creationId xmlns:a16="http://schemas.microsoft.com/office/drawing/2014/main" id="{3D0F2683-33C2-476E-B63F-3C22A39B9C98}"/>
              </a:ext>
            </a:extLst>
          </p:cNvPr>
          <p:cNvSpPr>
            <a:spLocks noGrp="1"/>
          </p:cNvSpPr>
          <p:nvPr/>
        </p:nvSpPr>
        <p:spPr>
          <a:xfrm>
            <a:off x="18173700" y="27765375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requiere</a:t>
            </a:r>
          </a:p>
        </p:txBody>
      </p:sp>
      <p:sp>
        <p:nvSpPr>
          <p:cNvPr id="301" name="relation-25-1">
            <a:extLst>
              <a:ext uri="{FF2B5EF4-FFF2-40B4-BE49-F238E27FC236}">
                <a16:creationId xmlns:a16="http://schemas.microsoft.com/office/drawing/2014/main" id="{C461299C-563B-4C17-9567-ADAAF3F00F95}"/>
              </a:ext>
            </a:extLst>
          </p:cNvPr>
          <p:cNvSpPr>
            <a:spLocks noGrp="1"/>
          </p:cNvSpPr>
          <p:nvPr/>
        </p:nvSpPr>
        <p:spPr>
          <a:xfrm>
            <a:off x="18173700" y="28022550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resolver</a:t>
            </a:r>
          </a:p>
        </p:txBody>
      </p:sp>
      <p:cxnSp>
        <p:nvCxnSpPr>
          <p:cNvPr id="648" name="Conector recto de flecha 647"/>
          <p:cNvCxnSpPr>
            <a:stCxn id="126" idx="3"/>
            <a:endCxn id="60" idx="1"/>
          </p:cNvCxnSpPr>
          <p:nvPr/>
        </p:nvCxnSpPr>
        <p:spPr>
          <a:xfrm>
            <a:off x="8572500" y="31337250"/>
            <a:ext cx="1905000" cy="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303" name="relation-26-back">
            <a:extLst>
              <a:ext uri="{FF2B5EF4-FFF2-40B4-BE49-F238E27FC236}">
                <a16:creationId xmlns:a16="http://schemas.microsoft.com/office/drawing/2014/main" id="{22E01160-209B-4BD9-907E-AEF2C0C9C5CC}"/>
              </a:ext>
            </a:extLst>
          </p:cNvPr>
          <p:cNvSpPr>
            <a:spLocks noGrp="1"/>
          </p:cNvSpPr>
          <p:nvPr/>
        </p:nvSpPr>
        <p:spPr>
          <a:xfrm>
            <a:off x="8648700" y="30375225"/>
            <a:ext cx="1752600" cy="8477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4" name="relation-26-0">
            <a:extLst>
              <a:ext uri="{FF2B5EF4-FFF2-40B4-BE49-F238E27FC236}">
                <a16:creationId xmlns:a16="http://schemas.microsoft.com/office/drawing/2014/main" id="{9FFEB8C5-D67B-40EE-B240-1CD736CBC6DD}"/>
              </a:ext>
            </a:extLst>
          </p:cNvPr>
          <p:cNvSpPr>
            <a:spLocks noGrp="1"/>
          </p:cNvSpPr>
          <p:nvPr/>
        </p:nvSpPr>
        <p:spPr>
          <a:xfrm>
            <a:off x="8648700" y="30413325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aportan</a:t>
            </a:r>
          </a:p>
        </p:txBody>
      </p:sp>
      <p:sp>
        <p:nvSpPr>
          <p:cNvPr id="305" name="relation-26-1">
            <a:extLst>
              <a:ext uri="{FF2B5EF4-FFF2-40B4-BE49-F238E27FC236}">
                <a16:creationId xmlns:a16="http://schemas.microsoft.com/office/drawing/2014/main" id="{C9DCADE1-328A-4137-A9D5-5244259D6E58}"/>
              </a:ext>
            </a:extLst>
          </p:cNvPr>
          <p:cNvSpPr>
            <a:spLocks noGrp="1"/>
          </p:cNvSpPr>
          <p:nvPr/>
        </p:nvSpPr>
        <p:spPr>
          <a:xfrm>
            <a:off x="8648700" y="30670500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trazabilidad</a:t>
            </a:r>
          </a:p>
        </p:txBody>
      </p:sp>
      <p:sp>
        <p:nvSpPr>
          <p:cNvPr id="306" name="relation-26-2">
            <a:extLst>
              <a:ext uri="{FF2B5EF4-FFF2-40B4-BE49-F238E27FC236}">
                <a16:creationId xmlns:a16="http://schemas.microsoft.com/office/drawing/2014/main" id="{8C0930BE-9C3F-4F42-821C-0940B84B9A01}"/>
              </a:ext>
            </a:extLst>
          </p:cNvPr>
          <p:cNvSpPr>
            <a:spLocks noGrp="1"/>
          </p:cNvSpPr>
          <p:nvPr/>
        </p:nvSpPr>
        <p:spPr>
          <a:xfrm>
            <a:off x="8648700" y="30927675"/>
            <a:ext cx="17526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al</a:t>
            </a:r>
          </a:p>
        </p:txBody>
      </p:sp>
      <p:cxnSp>
        <p:nvCxnSpPr>
          <p:cNvPr id="653" name="Conector recto de flecha 652"/>
          <p:cNvCxnSpPr>
            <a:stCxn id="94" idx="2"/>
            <a:endCxn id="101" idx="0"/>
          </p:cNvCxnSpPr>
          <p:nvPr/>
        </p:nvCxnSpPr>
        <p:spPr>
          <a:xfrm>
            <a:off x="4762500" y="18097500"/>
            <a:ext cx="0" cy="85725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308" name="relation-27-back">
            <a:extLst>
              <a:ext uri="{FF2B5EF4-FFF2-40B4-BE49-F238E27FC236}">
                <a16:creationId xmlns:a16="http://schemas.microsoft.com/office/drawing/2014/main" id="{07E5E182-2A51-4D6F-9777-A781D8DEDA11}"/>
              </a:ext>
            </a:extLst>
          </p:cNvPr>
          <p:cNvSpPr>
            <a:spLocks noGrp="1"/>
          </p:cNvSpPr>
          <p:nvPr/>
        </p:nvSpPr>
        <p:spPr>
          <a:xfrm>
            <a:off x="1619250" y="18359438"/>
            <a:ext cx="62865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9" name="relation-27-0">
            <a:extLst>
              <a:ext uri="{FF2B5EF4-FFF2-40B4-BE49-F238E27FC236}">
                <a16:creationId xmlns:a16="http://schemas.microsoft.com/office/drawing/2014/main" id="{6870BCE0-614C-4FBA-BAE2-C46AA162EBAE}"/>
              </a:ext>
            </a:extLst>
          </p:cNvPr>
          <p:cNvSpPr>
            <a:spLocks noGrp="1"/>
          </p:cNvSpPr>
          <p:nvPr/>
        </p:nvSpPr>
        <p:spPr>
          <a:xfrm>
            <a:off x="1619250" y="18397538"/>
            <a:ext cx="62865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sincroniza su historial con</a:t>
            </a:r>
          </a:p>
        </p:txBody>
      </p:sp>
      <p:cxnSp>
        <p:nvCxnSpPr>
          <p:cNvPr id="656" name="Conector recto de flecha 655"/>
          <p:cNvCxnSpPr>
            <a:stCxn id="101" idx="2"/>
            <a:endCxn id="107" idx="0"/>
          </p:cNvCxnSpPr>
          <p:nvPr/>
        </p:nvCxnSpPr>
        <p:spPr>
          <a:xfrm>
            <a:off x="4762500" y="20859750"/>
            <a:ext cx="0" cy="85725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311" name="relation-28-back">
            <a:extLst>
              <a:ext uri="{FF2B5EF4-FFF2-40B4-BE49-F238E27FC236}">
                <a16:creationId xmlns:a16="http://schemas.microsoft.com/office/drawing/2014/main" id="{6A591288-59A5-421F-87BF-3444B0B81A05}"/>
              </a:ext>
            </a:extLst>
          </p:cNvPr>
          <p:cNvSpPr>
            <a:spLocks noGrp="1"/>
          </p:cNvSpPr>
          <p:nvPr/>
        </p:nvSpPr>
        <p:spPr>
          <a:xfrm>
            <a:off x="1619250" y="21121688"/>
            <a:ext cx="62865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2" name="relation-28-0">
            <a:extLst>
              <a:ext uri="{FF2B5EF4-FFF2-40B4-BE49-F238E27FC236}">
                <a16:creationId xmlns:a16="http://schemas.microsoft.com/office/drawing/2014/main" id="{FAC6495F-60C2-42E1-A6F2-B130F57BD926}"/>
              </a:ext>
            </a:extLst>
          </p:cNvPr>
          <p:cNvSpPr>
            <a:spLocks noGrp="1"/>
          </p:cNvSpPr>
          <p:nvPr/>
        </p:nvSpPr>
        <p:spPr>
          <a:xfrm>
            <a:off x="1619250" y="21159788"/>
            <a:ext cx="62865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aloja la</a:t>
            </a:r>
          </a:p>
        </p:txBody>
      </p:sp>
      <p:cxnSp>
        <p:nvCxnSpPr>
          <p:cNvPr id="659" name="Conector recto de flecha 658"/>
          <p:cNvCxnSpPr>
            <a:stCxn id="107" idx="2"/>
            <a:endCxn id="120" idx="0"/>
          </p:cNvCxnSpPr>
          <p:nvPr/>
        </p:nvCxnSpPr>
        <p:spPr>
          <a:xfrm>
            <a:off x="4762500" y="26479500"/>
            <a:ext cx="0" cy="95250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314" name="relation-29-back">
            <a:extLst>
              <a:ext uri="{FF2B5EF4-FFF2-40B4-BE49-F238E27FC236}">
                <a16:creationId xmlns:a16="http://schemas.microsoft.com/office/drawing/2014/main" id="{9BB9081F-417B-4554-9116-2A4A18ADFD62}"/>
              </a:ext>
            </a:extLst>
          </p:cNvPr>
          <p:cNvSpPr>
            <a:spLocks noGrp="1"/>
          </p:cNvSpPr>
          <p:nvPr/>
        </p:nvSpPr>
        <p:spPr>
          <a:xfrm>
            <a:off x="1619250" y="26789063"/>
            <a:ext cx="62865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5" name="relation-29-0">
            <a:extLst>
              <a:ext uri="{FF2B5EF4-FFF2-40B4-BE49-F238E27FC236}">
                <a16:creationId xmlns:a16="http://schemas.microsoft.com/office/drawing/2014/main" id="{2437AC93-2034-4B26-8F7B-9633EB8791A8}"/>
              </a:ext>
            </a:extLst>
          </p:cNvPr>
          <p:cNvSpPr>
            <a:spLocks noGrp="1"/>
          </p:cNvSpPr>
          <p:nvPr/>
        </p:nvSpPr>
        <p:spPr>
          <a:xfrm>
            <a:off x="1619250" y="26827163"/>
            <a:ext cx="62865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se conserva según</a:t>
            </a:r>
          </a:p>
        </p:txBody>
      </p:sp>
      <p:cxnSp>
        <p:nvCxnSpPr>
          <p:cNvPr id="662" name="Conector recto de flecha 661"/>
          <p:cNvCxnSpPr>
            <a:stCxn id="120" idx="2"/>
            <a:endCxn id="126" idx="0"/>
          </p:cNvCxnSpPr>
          <p:nvPr/>
        </p:nvCxnSpPr>
        <p:spPr>
          <a:xfrm>
            <a:off x="4762500" y="29432250"/>
            <a:ext cx="0" cy="857250"/>
          </a:xfrm>
          <a:prstGeom prst="straightConnector1">
            <a:avLst/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317" name="relation-30-back">
            <a:extLst>
              <a:ext uri="{FF2B5EF4-FFF2-40B4-BE49-F238E27FC236}">
                <a16:creationId xmlns:a16="http://schemas.microsoft.com/office/drawing/2014/main" id="{A0888542-27F6-437C-A6BA-9A8A6421DE1A}"/>
              </a:ext>
            </a:extLst>
          </p:cNvPr>
          <p:cNvSpPr>
            <a:spLocks noGrp="1"/>
          </p:cNvSpPr>
          <p:nvPr/>
        </p:nvSpPr>
        <p:spPr>
          <a:xfrm>
            <a:off x="1619250" y="29694188"/>
            <a:ext cx="62865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8" name="relation-30-0">
            <a:extLst>
              <a:ext uri="{FF2B5EF4-FFF2-40B4-BE49-F238E27FC236}">
                <a16:creationId xmlns:a16="http://schemas.microsoft.com/office/drawing/2014/main" id="{E8C81AAD-354C-42A4-8A78-DB1CB5828FE4}"/>
              </a:ext>
            </a:extLst>
          </p:cNvPr>
          <p:cNvSpPr>
            <a:spLocks noGrp="1"/>
          </p:cNvSpPr>
          <p:nvPr/>
        </p:nvSpPr>
        <p:spPr>
          <a:xfrm>
            <a:off x="1619250" y="29732288"/>
            <a:ext cx="62865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se aplica mediante</a:t>
            </a:r>
          </a:p>
        </p:txBody>
      </p:sp>
      <p:cxnSp>
        <p:nvCxnSpPr>
          <p:cNvPr id="665" name="Conector: angular 664"/>
          <p:cNvCxnSpPr>
            <a:stCxn id="60" idx="2"/>
            <a:endCxn id="193" idx="0"/>
          </p:cNvCxnSpPr>
          <p:nvPr/>
        </p:nvCxnSpPr>
        <p:spPr>
          <a:xfrm flipH="1">
            <a:off x="4048125" y="32385000"/>
            <a:ext cx="10239375" cy="2190750"/>
          </a:xfrm>
          <a:prstGeom prst="bentConnector4">
            <a:avLst>
              <a:gd name="adj1" fmla="val 0"/>
              <a:gd name="adj2" fmla="val 50000"/>
            </a:avLst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320" name="relation-31-back">
            <a:extLst>
              <a:ext uri="{FF2B5EF4-FFF2-40B4-BE49-F238E27FC236}">
                <a16:creationId xmlns:a16="http://schemas.microsoft.com/office/drawing/2014/main" id="{F3A4C607-9B61-464C-B2C9-A9D81BB348B3}"/>
              </a:ext>
            </a:extLst>
          </p:cNvPr>
          <p:cNvSpPr>
            <a:spLocks noGrp="1"/>
          </p:cNvSpPr>
          <p:nvPr/>
        </p:nvSpPr>
        <p:spPr>
          <a:xfrm>
            <a:off x="1238250" y="33913763"/>
            <a:ext cx="561975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1" name="relation-31-0">
            <a:extLst>
              <a:ext uri="{FF2B5EF4-FFF2-40B4-BE49-F238E27FC236}">
                <a16:creationId xmlns:a16="http://schemas.microsoft.com/office/drawing/2014/main" id="{80BD16CE-9265-4833-B33B-B3B05075E2F3}"/>
              </a:ext>
            </a:extLst>
          </p:cNvPr>
          <p:cNvSpPr>
            <a:spLocks noGrp="1"/>
          </p:cNvSpPr>
          <p:nvPr/>
        </p:nvSpPr>
        <p:spPr>
          <a:xfrm>
            <a:off x="1238250" y="33951863"/>
            <a:ext cx="56197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se reproduce siguiendo</a:t>
            </a:r>
          </a:p>
        </p:txBody>
      </p:sp>
      <p:cxnSp>
        <p:nvCxnSpPr>
          <p:cNvPr id="668" name="Conector: angular 667"/>
          <p:cNvCxnSpPr>
            <a:stCxn id="60" idx="2"/>
            <a:endCxn id="199" idx="0"/>
          </p:cNvCxnSpPr>
          <p:nvPr/>
        </p:nvCxnSpPr>
        <p:spPr>
          <a:xfrm flipH="1">
            <a:off x="10810875" y="32385000"/>
            <a:ext cx="3476625" cy="2190750"/>
          </a:xfrm>
          <a:prstGeom prst="bentConnector4">
            <a:avLst>
              <a:gd name="adj1" fmla="val 0"/>
              <a:gd name="adj2" fmla="val 50000"/>
            </a:avLst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323" name="relation-32-back">
            <a:extLst>
              <a:ext uri="{FF2B5EF4-FFF2-40B4-BE49-F238E27FC236}">
                <a16:creationId xmlns:a16="http://schemas.microsoft.com/office/drawing/2014/main" id="{1966C4C6-2BC7-4D67-BFCD-F6AB62237F22}"/>
              </a:ext>
            </a:extLst>
          </p:cNvPr>
          <p:cNvSpPr>
            <a:spLocks noGrp="1"/>
          </p:cNvSpPr>
          <p:nvPr/>
        </p:nvSpPr>
        <p:spPr>
          <a:xfrm>
            <a:off x="8001000" y="33913763"/>
            <a:ext cx="561975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4" name="relation-32-0">
            <a:extLst>
              <a:ext uri="{FF2B5EF4-FFF2-40B4-BE49-F238E27FC236}">
                <a16:creationId xmlns:a16="http://schemas.microsoft.com/office/drawing/2014/main" id="{054D852D-0BF6-4546-AE18-3A67EB257F42}"/>
              </a:ext>
            </a:extLst>
          </p:cNvPr>
          <p:cNvSpPr>
            <a:spLocks noGrp="1"/>
          </p:cNvSpPr>
          <p:nvPr/>
        </p:nvSpPr>
        <p:spPr>
          <a:xfrm>
            <a:off x="8001000" y="33951863"/>
            <a:ext cx="56197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se interpreta con</a:t>
            </a:r>
          </a:p>
        </p:txBody>
      </p:sp>
      <p:cxnSp>
        <p:nvCxnSpPr>
          <p:cNvPr id="671" name="Conector: angular 670"/>
          <p:cNvCxnSpPr>
            <a:stCxn id="60" idx="2"/>
            <a:endCxn id="205" idx="0"/>
          </p:cNvCxnSpPr>
          <p:nvPr/>
        </p:nvCxnSpPr>
        <p:spPr>
          <a:xfrm>
            <a:off x="14287500" y="32385000"/>
            <a:ext cx="3286125" cy="2190750"/>
          </a:xfrm>
          <a:prstGeom prst="bentConnector4">
            <a:avLst>
              <a:gd name="adj1" fmla="val 0"/>
              <a:gd name="adj2" fmla="val 50000"/>
            </a:avLst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326" name="relation-33-back">
            <a:extLst>
              <a:ext uri="{FF2B5EF4-FFF2-40B4-BE49-F238E27FC236}">
                <a16:creationId xmlns:a16="http://schemas.microsoft.com/office/drawing/2014/main" id="{F0324A0E-FC35-4C58-AA19-07E214253DF4}"/>
              </a:ext>
            </a:extLst>
          </p:cNvPr>
          <p:cNvSpPr>
            <a:spLocks noGrp="1"/>
          </p:cNvSpPr>
          <p:nvPr/>
        </p:nvSpPr>
        <p:spPr>
          <a:xfrm>
            <a:off x="14763750" y="33913763"/>
            <a:ext cx="561975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7" name="relation-33-0">
            <a:extLst>
              <a:ext uri="{FF2B5EF4-FFF2-40B4-BE49-F238E27FC236}">
                <a16:creationId xmlns:a16="http://schemas.microsoft.com/office/drawing/2014/main" id="{A9FC872B-62D9-4071-A375-C84F6309A986}"/>
              </a:ext>
            </a:extLst>
          </p:cNvPr>
          <p:cNvSpPr>
            <a:spLocks noGrp="1"/>
          </p:cNvSpPr>
          <p:nvPr/>
        </p:nvSpPr>
        <p:spPr>
          <a:xfrm>
            <a:off x="14763750" y="33951863"/>
            <a:ext cx="56197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se justifica con</a:t>
            </a:r>
          </a:p>
        </p:txBody>
      </p:sp>
      <p:cxnSp>
        <p:nvCxnSpPr>
          <p:cNvPr id="674" name="Conector: angular 673"/>
          <p:cNvCxnSpPr>
            <a:stCxn id="60" idx="2"/>
            <a:endCxn id="211" idx="0"/>
          </p:cNvCxnSpPr>
          <p:nvPr/>
        </p:nvCxnSpPr>
        <p:spPr>
          <a:xfrm>
            <a:off x="14287500" y="32385000"/>
            <a:ext cx="10144125" cy="2190750"/>
          </a:xfrm>
          <a:prstGeom prst="bentConnector4">
            <a:avLst>
              <a:gd name="adj1" fmla="val 0"/>
              <a:gd name="adj2" fmla="val 50000"/>
            </a:avLst>
          </a:prstGeom>
          <a:ln w="20955">
            <a:solidFill>
              <a:srgbClr val="72818A"/>
            </a:solidFill>
            <a:prstDash val="dash"/>
            <a:tailEnd type="triangle" w="med" len="med"/>
          </a:ln>
        </p:spPr>
      </p:cxnSp>
      <p:sp>
        <p:nvSpPr>
          <p:cNvPr id="329" name="relation-34-back">
            <a:extLst>
              <a:ext uri="{FF2B5EF4-FFF2-40B4-BE49-F238E27FC236}">
                <a16:creationId xmlns:a16="http://schemas.microsoft.com/office/drawing/2014/main" id="{DEE451FA-F26A-46AC-A2EF-40A0F5BA022E}"/>
              </a:ext>
            </a:extLst>
          </p:cNvPr>
          <p:cNvSpPr>
            <a:spLocks noGrp="1"/>
          </p:cNvSpPr>
          <p:nvPr/>
        </p:nvSpPr>
        <p:spPr>
          <a:xfrm>
            <a:off x="21621750" y="33913763"/>
            <a:ext cx="561975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0" name="relation-34-0">
            <a:extLst>
              <a:ext uri="{FF2B5EF4-FFF2-40B4-BE49-F238E27FC236}">
                <a16:creationId xmlns:a16="http://schemas.microsoft.com/office/drawing/2014/main" id="{6BDC2F58-B658-4E57-9C2B-BF2BB451B8BA}"/>
              </a:ext>
            </a:extLst>
          </p:cNvPr>
          <p:cNvSpPr>
            <a:spLocks noGrp="1"/>
          </p:cNvSpPr>
          <p:nvPr/>
        </p:nvSpPr>
        <p:spPr>
          <a:xfrm>
            <a:off x="21621750" y="33951863"/>
            <a:ext cx="56197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B5463"/>
                </a:solidFill>
                <a:latin typeface="DejaVu Sans"/>
                <a:ea typeface="DejaVu Sans"/>
                <a:cs typeface="DejaVu Sans"/>
              </a:rPr>
              <a:t>se comunica mediante</a:t>
            </a:r>
          </a:p>
        </p:txBody>
      </p:sp>
      <p:sp>
        <p:nvSpPr>
          <p:cNvPr id="331" name="text-4">
            <a:extLst>
              <a:ext uri="{FF2B5EF4-FFF2-40B4-BE49-F238E27FC236}">
                <a16:creationId xmlns:a16="http://schemas.microsoft.com/office/drawing/2014/main" id="{BDB4CF3B-B14D-4C11-BC06-7970FA915789}"/>
              </a:ext>
            </a:extLst>
          </p:cNvPr>
          <p:cNvSpPr>
            <a:spLocks noGrp="1"/>
          </p:cNvSpPr>
          <p:nvPr/>
        </p:nvSpPr>
        <p:spPr>
          <a:xfrm>
            <a:off x="952500" y="37719000"/>
            <a:ext cx="28575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1">
                <a:solidFill>
                  <a:srgbClr val="15385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53851"/>
                </a:solidFill>
                <a:latin typeface="DejaVu Sans"/>
                <a:ea typeface="DejaVu Sans"/>
                <a:cs typeface="DejaVu Sans"/>
              </a:rPr>
              <a:t>LEYENDA</a:t>
            </a:r>
          </a:p>
        </p:txBody>
      </p:sp>
      <p:sp>
        <p:nvSpPr>
          <p:cNvPr id="332" name="legend-principal">
            <a:extLst>
              <a:ext uri="{FF2B5EF4-FFF2-40B4-BE49-F238E27FC236}">
                <a16:creationId xmlns:a16="http://schemas.microsoft.com/office/drawing/2014/main" id="{FF5A58DF-197E-4C67-B40D-3573755CB025}"/>
              </a:ext>
            </a:extLst>
          </p:cNvPr>
          <p:cNvSpPr>
            <a:spLocks noGrp="1"/>
          </p:cNvSpPr>
          <p:nvPr/>
        </p:nvSpPr>
        <p:spPr>
          <a:xfrm>
            <a:off x="952500" y="38290500"/>
            <a:ext cx="266700" cy="266700"/>
          </a:xfrm>
          <a:prstGeom prst="rect">
            <a:avLst/>
          </a:prstGeom>
          <a:solidFill>
            <a:srgbClr val="153851"/>
          </a:solidFill>
          <a:ln w="19050">
            <a:solidFill>
              <a:srgbClr val="15385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3" name="text-5">
            <a:extLst>
              <a:ext uri="{FF2B5EF4-FFF2-40B4-BE49-F238E27FC236}">
                <a16:creationId xmlns:a16="http://schemas.microsoft.com/office/drawing/2014/main" id="{60981E30-E937-427E-A270-E946D6C0C77F}"/>
              </a:ext>
            </a:extLst>
          </p:cNvPr>
          <p:cNvSpPr>
            <a:spLocks noGrp="1"/>
          </p:cNvSpPr>
          <p:nvPr/>
        </p:nvSpPr>
        <p:spPr>
          <a:xfrm>
            <a:off x="1352550" y="3827145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354D5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54D5C"/>
                </a:solidFill>
                <a:latin typeface="DejaVu Sans"/>
                <a:ea typeface="DejaVu Sans"/>
                <a:cs typeface="DejaVu Sans"/>
              </a:rPr>
              <a:t>Concepto y resultado</a:t>
            </a:r>
          </a:p>
        </p:txBody>
      </p:sp>
      <p:sp>
        <p:nvSpPr>
          <p:cNvPr id="334" name="legend-datos">
            <a:extLst>
              <a:ext uri="{FF2B5EF4-FFF2-40B4-BE49-F238E27FC236}">
                <a16:creationId xmlns:a16="http://schemas.microsoft.com/office/drawing/2014/main" id="{3C3E9F1F-2281-4040-827D-29149C106AC9}"/>
              </a:ext>
            </a:extLst>
          </p:cNvPr>
          <p:cNvSpPr>
            <a:spLocks noGrp="1"/>
          </p:cNvSpPr>
          <p:nvPr/>
        </p:nvSpPr>
        <p:spPr>
          <a:xfrm>
            <a:off x="5400675" y="38290500"/>
            <a:ext cx="266700" cy="266700"/>
          </a:xfrm>
          <a:prstGeom prst="rect">
            <a:avLst/>
          </a:prstGeom>
          <a:solidFill>
            <a:srgbClr val="EBF6EF"/>
          </a:solidFill>
          <a:ln w="19050">
            <a:solidFill>
              <a:srgbClr val="4280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5" name="text-6">
            <a:extLst>
              <a:ext uri="{FF2B5EF4-FFF2-40B4-BE49-F238E27FC236}">
                <a16:creationId xmlns:a16="http://schemas.microsoft.com/office/drawing/2014/main" id="{B84C2B66-45DC-45FF-A403-257A01AEF965}"/>
              </a:ext>
            </a:extLst>
          </p:cNvPr>
          <p:cNvSpPr>
            <a:spLocks noGrp="1"/>
          </p:cNvSpPr>
          <p:nvPr/>
        </p:nvSpPr>
        <p:spPr>
          <a:xfrm>
            <a:off x="5800725" y="3827145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354D5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54D5C"/>
                </a:solidFill>
                <a:latin typeface="DejaVu Sans"/>
                <a:ea typeface="DejaVu Sans"/>
                <a:cs typeface="DejaVu Sans"/>
              </a:rPr>
              <a:t>Datos y hallazgos</a:t>
            </a:r>
          </a:p>
        </p:txBody>
      </p:sp>
      <p:sp>
        <p:nvSpPr>
          <p:cNvPr id="336" name="legend-proceso">
            <a:extLst>
              <a:ext uri="{FF2B5EF4-FFF2-40B4-BE49-F238E27FC236}">
                <a16:creationId xmlns:a16="http://schemas.microsoft.com/office/drawing/2014/main" id="{FB424B86-7C78-4405-BBD9-B1766E12916A}"/>
              </a:ext>
            </a:extLst>
          </p:cNvPr>
          <p:cNvSpPr>
            <a:spLocks noGrp="1"/>
          </p:cNvSpPr>
          <p:nvPr/>
        </p:nvSpPr>
        <p:spPr>
          <a:xfrm>
            <a:off x="9848850" y="38290500"/>
            <a:ext cx="266700" cy="266700"/>
          </a:xfrm>
          <a:prstGeom prst="rect">
            <a:avLst/>
          </a:prstGeom>
          <a:solidFill>
            <a:srgbClr val="EDF3FC"/>
          </a:solidFill>
          <a:ln w="19050">
            <a:solidFill>
              <a:srgbClr val="5078B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7" name="text-7">
            <a:extLst>
              <a:ext uri="{FF2B5EF4-FFF2-40B4-BE49-F238E27FC236}">
                <a16:creationId xmlns:a16="http://schemas.microsoft.com/office/drawing/2014/main" id="{45E8C007-BCB1-4601-A83D-5795D2A39337}"/>
              </a:ext>
            </a:extLst>
          </p:cNvPr>
          <p:cNvSpPr>
            <a:spLocks noGrp="1"/>
          </p:cNvSpPr>
          <p:nvPr/>
        </p:nvSpPr>
        <p:spPr>
          <a:xfrm>
            <a:off x="10248900" y="3827145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354D5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54D5C"/>
                </a:solidFill>
                <a:latin typeface="DejaVu Sans"/>
                <a:ea typeface="DejaVu Sans"/>
                <a:cs typeface="DejaVu Sans"/>
              </a:rPr>
              <a:t>Etapas del proceso</a:t>
            </a:r>
          </a:p>
        </p:txBody>
      </p:sp>
      <p:sp>
        <p:nvSpPr>
          <p:cNvPr id="338" name="legend-herramientas">
            <a:extLst>
              <a:ext uri="{FF2B5EF4-FFF2-40B4-BE49-F238E27FC236}">
                <a16:creationId xmlns:a16="http://schemas.microsoft.com/office/drawing/2014/main" id="{A89FE826-FE74-45FB-99F4-B06DF594D77B}"/>
              </a:ext>
            </a:extLst>
          </p:cNvPr>
          <p:cNvSpPr>
            <a:spLocks noGrp="1"/>
          </p:cNvSpPr>
          <p:nvPr/>
        </p:nvSpPr>
        <p:spPr>
          <a:xfrm>
            <a:off x="14297025" y="38290500"/>
            <a:ext cx="266700" cy="266700"/>
          </a:xfrm>
          <a:prstGeom prst="rect">
            <a:avLst/>
          </a:prstGeom>
          <a:solidFill>
            <a:srgbClr val="E9F7FA"/>
          </a:solidFill>
          <a:ln w="19050">
            <a:solidFill>
              <a:srgbClr val="35818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9" name="text-8">
            <a:extLst>
              <a:ext uri="{FF2B5EF4-FFF2-40B4-BE49-F238E27FC236}">
                <a16:creationId xmlns:a16="http://schemas.microsoft.com/office/drawing/2014/main" id="{A92DFF81-82B2-41D6-95D0-5DE97EC02E11}"/>
              </a:ext>
            </a:extLst>
          </p:cNvPr>
          <p:cNvSpPr>
            <a:spLocks noGrp="1"/>
          </p:cNvSpPr>
          <p:nvPr/>
        </p:nvSpPr>
        <p:spPr>
          <a:xfrm>
            <a:off x="14697075" y="3827145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354D5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54D5C"/>
                </a:solidFill>
                <a:latin typeface="DejaVu Sans"/>
                <a:ea typeface="DejaVu Sans"/>
                <a:cs typeface="DejaVu Sans"/>
              </a:rPr>
              <a:t>Herramientas y entorno</a:t>
            </a:r>
          </a:p>
        </p:txBody>
      </p:sp>
      <p:sp>
        <p:nvSpPr>
          <p:cNvPr id="340" name="legend-documentacion">
            <a:extLst>
              <a:ext uri="{FF2B5EF4-FFF2-40B4-BE49-F238E27FC236}">
                <a16:creationId xmlns:a16="http://schemas.microsoft.com/office/drawing/2014/main" id="{78849FBF-0DFE-4591-B17D-86D7F67DD1AA}"/>
              </a:ext>
            </a:extLst>
          </p:cNvPr>
          <p:cNvSpPr>
            <a:spLocks noGrp="1"/>
          </p:cNvSpPr>
          <p:nvPr/>
        </p:nvSpPr>
        <p:spPr>
          <a:xfrm>
            <a:off x="18745200" y="38290500"/>
            <a:ext cx="266700" cy="266700"/>
          </a:xfrm>
          <a:prstGeom prst="rect">
            <a:avLst/>
          </a:prstGeom>
          <a:solidFill>
            <a:srgbClr val="F2EEFA"/>
          </a:solidFill>
          <a:ln w="19050">
            <a:solidFill>
              <a:srgbClr val="8670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1" name="text-9">
            <a:extLst>
              <a:ext uri="{FF2B5EF4-FFF2-40B4-BE49-F238E27FC236}">
                <a16:creationId xmlns:a16="http://schemas.microsoft.com/office/drawing/2014/main" id="{98B2A0F4-9F3B-4234-8DC1-FE18F64BD189}"/>
              </a:ext>
            </a:extLst>
          </p:cNvPr>
          <p:cNvSpPr>
            <a:spLocks noGrp="1"/>
          </p:cNvSpPr>
          <p:nvPr/>
        </p:nvSpPr>
        <p:spPr>
          <a:xfrm>
            <a:off x="19145250" y="3827145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354D5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54D5C"/>
                </a:solidFill>
                <a:latin typeface="DejaVu Sans"/>
                <a:ea typeface="DejaVu Sans"/>
                <a:cs typeface="DejaVu Sans"/>
              </a:rPr>
              <a:t>Documentación</a:t>
            </a:r>
          </a:p>
        </p:txBody>
      </p:sp>
      <p:sp>
        <p:nvSpPr>
          <p:cNvPr id="342" name="legend-decision">
            <a:extLst>
              <a:ext uri="{FF2B5EF4-FFF2-40B4-BE49-F238E27FC236}">
                <a16:creationId xmlns:a16="http://schemas.microsoft.com/office/drawing/2014/main" id="{E7A6B22F-1629-4CDA-9D57-2569D127D177}"/>
              </a:ext>
            </a:extLst>
          </p:cNvPr>
          <p:cNvSpPr>
            <a:spLocks noGrp="1"/>
          </p:cNvSpPr>
          <p:nvPr/>
        </p:nvSpPr>
        <p:spPr>
          <a:xfrm>
            <a:off x="23193375" y="38290500"/>
            <a:ext cx="266700" cy="266700"/>
          </a:xfrm>
          <a:prstGeom prst="rect">
            <a:avLst/>
          </a:prstGeom>
          <a:solidFill>
            <a:srgbClr val="FFF4E7"/>
          </a:solidFill>
          <a:ln w="19050">
            <a:solidFill>
              <a:srgbClr val="BC82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3" name="text-10">
            <a:extLst>
              <a:ext uri="{FF2B5EF4-FFF2-40B4-BE49-F238E27FC236}">
                <a16:creationId xmlns:a16="http://schemas.microsoft.com/office/drawing/2014/main" id="{D94FB0BA-5ABA-4B4A-BAD7-DCE2216352F0}"/>
              </a:ext>
            </a:extLst>
          </p:cNvPr>
          <p:cNvSpPr>
            <a:spLocks noGrp="1"/>
          </p:cNvSpPr>
          <p:nvPr/>
        </p:nvSpPr>
        <p:spPr>
          <a:xfrm>
            <a:off x="23593425" y="3827145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354D5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54D5C"/>
                </a:solidFill>
                <a:latin typeface="DejaVu Sans"/>
                <a:ea typeface="DejaVu Sans"/>
                <a:cs typeface="DejaVu Sans"/>
              </a:rPr>
              <a:t>Decisiones y alcance</a:t>
            </a:r>
          </a:p>
        </p:txBody>
      </p:sp>
      <p:sp>
        <p:nvSpPr>
          <p:cNvPr id="344" name="text-11">
            <a:extLst>
              <a:ext uri="{FF2B5EF4-FFF2-40B4-BE49-F238E27FC236}">
                <a16:creationId xmlns:a16="http://schemas.microsoft.com/office/drawing/2014/main" id="{85176A58-9897-4484-A4F3-7ED00097A680}"/>
              </a:ext>
            </a:extLst>
          </p:cNvPr>
          <p:cNvSpPr>
            <a:spLocks noGrp="1"/>
          </p:cNvSpPr>
          <p:nvPr/>
        </p:nvSpPr>
        <p:spPr>
          <a:xfrm>
            <a:off x="952500" y="38804850"/>
            <a:ext cx="26670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53697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977"/>
                </a:solidFill>
                <a:latin typeface="DejaVu Sans"/>
                <a:ea typeface="DejaVu Sans"/>
                <a:cs typeface="DejaVu Sans"/>
              </a:rPr>
              <a:t>Flechas continuas: secuencia del ciclo. Flechas discontinuas: relaciones de apoyo. Cada etiqueta expresa la relación entre conceptos.</a:t>
            </a:r>
          </a:p>
        </p:txBody>
      </p:sp>
      <p:sp>
        <p:nvSpPr>
          <p:cNvPr id="345" name="text-12">
            <a:extLst>
              <a:ext uri="{FF2B5EF4-FFF2-40B4-BE49-F238E27FC236}">
                <a16:creationId xmlns:a16="http://schemas.microsoft.com/office/drawing/2014/main" id="{E372CED1-B4F2-4510-8758-40DCE6A8EDA7}"/>
              </a:ext>
            </a:extLst>
          </p:cNvPr>
          <p:cNvSpPr>
            <a:spLocks noGrp="1"/>
          </p:cNvSpPr>
          <p:nvPr/>
        </p:nvSpPr>
        <p:spPr>
          <a:xfrm>
            <a:off x="952500" y="39433500"/>
            <a:ext cx="26670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725" b="0">
                <a:solidFill>
                  <a:srgbClr val="5369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977"/>
                </a:solidFill>
                <a:latin typeface="DejaVu Sans"/>
                <a:ea typeface="DejaVu Sans"/>
                <a:cs typeface="DejaVu Sans"/>
              </a:rPr>
              <a:t>Fuentes: archivo 187402OCCompraAgil(1).csv aportado por el grupo, mapa original, rúbrica formativa MCDI500 y retroalimentación del profesor.</a:t>
            </a:r>
          </a:p>
        </p:txBody>
      </p:sp>
      <p:sp>
        <p:nvSpPr>
          <p:cNvPr id="346" name="text-13">
            <a:extLst>
              <a:ext uri="{FF2B5EF4-FFF2-40B4-BE49-F238E27FC236}">
                <a16:creationId xmlns:a16="http://schemas.microsoft.com/office/drawing/2014/main" id="{D276DD0D-14F5-4823-ACF5-10095CEE8D6F}"/>
              </a:ext>
            </a:extLst>
          </p:cNvPr>
          <p:cNvSpPr>
            <a:spLocks noGrp="1"/>
          </p:cNvSpPr>
          <p:nvPr/>
        </p:nvSpPr>
        <p:spPr>
          <a:xfrm>
            <a:off x="952500" y="39766875"/>
            <a:ext cx="26670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725" b="0">
                <a:solidFill>
                  <a:srgbClr val="5369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977"/>
                </a:solidFill>
                <a:latin typeface="DejaVu Sans"/>
                <a:ea typeface="DejaVu Sans"/>
                <a:cs typeface="DejaVu Sans"/>
              </a:rPr>
              <a:t>Diagnóstico exploratorio del archivo: 12/09/2026. Los resultados finales y la ejecución del repositorio son trabajo proyectado.</a:t>
            </a:r>
          </a:p>
        </p:txBody>
      </p:sp>
    </p:spTree>
    <p:extLst>
      <p:ext uri="{BB962C8B-B14F-4D97-AF65-F5344CB8AC3E}">
        <p14:creationId xmlns:p14="http://schemas.microsoft.com/office/powerpoint/2010/main" val="14284575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1298</Words>
  <Application>Microsoft Office PowerPoint</Application>
  <DocSecurity>0</DocSecurity>
  <PresentationFormat>Personalizado</PresentationFormat>
  <Paragraphs>235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Calibri</vt:lpstr>
      <vt:lpstr>DejaVu Sans</vt:lpstr>
      <vt:lpstr>ChatGPT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ARAYA MATTA BENJAMÍN G</cp:lastModifiedBy>
  <cp:revision>1</cp:revision>
  <dcterms:created xsi:type="dcterms:W3CDTF">2026-09-12T13:54:32Z</dcterms:created>
  <dcterms:modified xsi:type="dcterms:W3CDTF">2026-09-12T14:04:06Z</dcterms:modified>
</cp:coreProperties>
</file>